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an engineering case study using real archived weather-radar observations. The interface replays historical timestamps; it is not a live operational warning service. Explain the goal: turn complex sensor files into inspectable cells and trajectories with traceable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archive contains separate moment volumes, rather than one tidy table per scan. Available moments include reflectivity, differential reflectivity, native KDP, correlation coefficient, differential phase, velocity and spectrum width. Field availability does not imply every moment contributes to the current tracking algorithm. The current cell path uses DBZH.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from left to right: preserve Rainbow source files in Bronze; decode sweep-aware Zarr groups and check quality; derive coverage-aware 2 km CAPPI, cells and tracks in Gold; serve products with FastAPI and the React dashboard. The illustration is conceptual: CAPPI products are stored under Gold in the current repository. Hazard scores and analytical polygons are heuristic products. The current dashboard is a 2D image and SVG view, not a validated 3D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difference between software validity and scientific validity. Parsing successfully does not guarantee correct geometry, units or coverage. Preserve gaps and exclusions rather than implying complete observations. These are implemented controls and checks, not a claim of comprehensive clutter removal, attenuation correction or independently verified forecast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altitude is 2 km above sea level, while the Cartesian grid spacing is also 2 km. Four connected grid pixels meet the 16 km² minimum area. Connectivity includes diagonals. Association uses actual elapsed time between scans. Current limitations include simple one-to-one association and no mature split/merge model. The tail is capped at 12 points, which is not exactly one hour because archive cadence and gaps vary. The side legend classifies detected cells by peak DBZH; weaker echoes remain visible in the raster.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screenshot to walk through the actual interface: supplied municipal and country boundaries, the real 2 km CAPPI, outlined cell footprints and trajectories, the scan-specific side legend, and the cell table. Replay changes presentation timing while retaining observation timestamps. The screenshot includes heuristic heavy-rain and hail fields and rotation marked NOT_ASSESSED. Explain that display projection and physical validation remain improvement areas. The MP4 is embedded in this slide. In PowerPoint Slide Show, click the video to play the 1.5× replay (about 35 seconds), from 21:00 to 23:54 UTC. This replaces the static dashboard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local archive checkpoint reports 217 processed timestamps, 16 exclusions and 2127 track-point records. These measure engineering throughput and available products, not recall, false-alarm rate or confirmed storm severity. Review exclusion reasons in the archive manifest. Independent event truth and quantitative skill evaluation remain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connecting the work to data engineering: provenance, reproducible processing, explicit quality and understandable outputs. The project is an analytical prototype based on archived data. Rain and hail scores are heuristic; rotation is not assessed. Invite questions about design decisions and point to the GitHub repository. Suggested presentation length: eight to ten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video" Target="../media/media-6-1.mp4"/><Relationship Id="rId2" Type="http://schemas.microsoft.com/office/2007/relationships/media" Target="../media/media-6-1.mp4"/><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mfretta/severe-convective-radar-intelligence"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31F"/>
        </a:solidFill>
      </p:bgPr>
    </p:bg>
    <p:spTree>
      <p:nvGrpSpPr>
        <p:cNvPr id="1" name=""/>
        <p:cNvGrpSpPr/>
        <p:nvPr/>
      </p:nvGrpSpPr>
      <p:grpSpPr>
        <a:xfrm>
          <a:off x="0" y="0"/>
          <a:ext cx="0" cy="0"/>
          <a:chOff x="0" y="0"/>
          <a:chExt cx="0" cy="0"/>
        </a:xfrm>
      </p:grpSpPr>
      <p:sp>
        <p:nvSpPr>
          <p:cNvPr id="2" name="Shape 0"/>
          <p:cNvSpPr/>
          <p:nvPr/>
        </p:nvSpPr>
        <p:spPr>
          <a:xfrm>
            <a:off x="594360" y="502920"/>
            <a:ext cx="384048" cy="50292"/>
          </a:xfrm>
          <a:prstGeom prst="rect">
            <a:avLst/>
          </a:prstGeom>
          <a:solidFill>
            <a:srgbClr val="52D9EE"/>
          </a:solidFill>
          <a:ln w="12700">
            <a:solidFill>
              <a:srgbClr val="52D9EE">
                <a:alpha val="0"/>
              </a:srgbClr>
            </a:solidFill>
            <a:prstDash val="solid"/>
          </a:ln>
        </p:spPr>
      </p:sp>
      <p:sp>
        <p:nvSpPr>
          <p:cNvPr id="3" name="Text 1"/>
          <p:cNvSpPr/>
          <p:nvPr/>
        </p:nvSpPr>
        <p:spPr>
          <a:xfrm>
            <a:off x="1115568" y="393192"/>
            <a:ext cx="11887200" cy="320040"/>
          </a:xfrm>
          <a:prstGeom prst="rect">
            <a:avLst/>
          </a:prstGeom>
          <a:noFill/>
          <a:ln/>
        </p:spPr>
        <p:txBody>
          <a:bodyPr wrap="square" lIns="0" tIns="0" rIns="0" bIns="0" rtlCol="0" anchor="t"/>
          <a:lstStyle/>
          <a:p>
            <a:pPr indent="0" marL="0">
              <a:buNone/>
            </a:pPr>
            <a:r>
              <a:rPr lang="en-US" sz="1200" b="1" dirty="0">
                <a:solidFill>
                  <a:srgbClr val="52D9EE"/>
                </a:solidFill>
                <a:latin typeface="Arial" pitchFamily="34" charset="0"/>
                <a:ea typeface="Arial" pitchFamily="34" charset="-122"/>
                <a:cs typeface="Arial" pitchFamily="34" charset="-120"/>
              </a:rPr>
              <a:t>01 / THE PROJECT</a:t>
            </a:r>
            <a:endParaRPr lang="en-US" sz="1200" dirty="0"/>
          </a:p>
        </p:txBody>
      </p:sp>
      <p:sp>
        <p:nvSpPr>
          <p:cNvPr id="4" name="Text 2"/>
          <p:cNvSpPr/>
          <p:nvPr/>
        </p:nvSpPr>
        <p:spPr>
          <a:xfrm>
            <a:off x="594360" y="960120"/>
            <a:ext cx="13441680" cy="1005840"/>
          </a:xfrm>
          <a:prstGeom prst="rect">
            <a:avLst/>
          </a:prstGeom>
          <a:noFill/>
          <a:ln/>
        </p:spPr>
        <p:txBody>
          <a:bodyPr wrap="square" lIns="0" tIns="0" rIns="0" bIns="0" rtlCol="0" anchor="t"/>
          <a:lstStyle/>
          <a:p>
            <a:pPr indent="0" marL="0">
              <a:buNone/>
            </a:pPr>
            <a:r>
              <a:rPr lang="en-US" sz="3400" b="1" dirty="0">
                <a:solidFill>
                  <a:srgbClr val="F1F6FA"/>
                </a:solidFill>
                <a:latin typeface="Arial" pitchFamily="34" charset="0"/>
                <a:ea typeface="Arial" pitchFamily="34" charset="-122"/>
                <a:cs typeface="Arial" pitchFamily="34" charset="-120"/>
              </a:rPr>
              <a:t>Severe Convective</a:t>
            </a:r>
            <a:endParaRPr lang="en-US" sz="3400" dirty="0"/>
          </a:p>
          <a:p>
            <a:pPr indent="0" marL="0">
              <a:buNone/>
            </a:pPr>
            <a:r>
              <a:rPr lang="en-US" sz="3400" b="1" dirty="0">
                <a:solidFill>
                  <a:srgbClr val="F1F6FA"/>
                </a:solidFill>
                <a:latin typeface="Arial" pitchFamily="34" charset="0"/>
                <a:ea typeface="Arial" pitchFamily="34" charset="-122"/>
                <a:cs typeface="Arial" pitchFamily="34" charset="-120"/>
              </a:rPr>
              <a:t>Radar Intelligence</a:t>
            </a:r>
            <a:endParaRPr lang="en-US" sz="3400" dirty="0"/>
          </a:p>
        </p:txBody>
      </p:sp>
      <p:sp>
        <p:nvSpPr>
          <p:cNvPr id="5" name="Shape 3"/>
          <p:cNvSpPr/>
          <p:nvPr/>
        </p:nvSpPr>
        <p:spPr>
          <a:xfrm>
            <a:off x="594360" y="7708392"/>
            <a:ext cx="13441680" cy="13716"/>
          </a:xfrm>
          <a:prstGeom prst="rect">
            <a:avLst/>
          </a:prstGeom>
          <a:solidFill>
            <a:srgbClr val="254354"/>
          </a:solidFill>
          <a:ln w="12700">
            <a:solidFill>
              <a:srgbClr val="254354">
                <a:alpha val="0"/>
              </a:srgbClr>
            </a:solidFill>
            <a:prstDash val="solid"/>
          </a:ln>
        </p:spPr>
      </p:sp>
      <p:sp>
        <p:nvSpPr>
          <p:cNvPr id="6" name="Text 4"/>
          <p:cNvSpPr/>
          <p:nvPr/>
        </p:nvSpPr>
        <p:spPr>
          <a:xfrm>
            <a:off x="594360" y="7845552"/>
            <a:ext cx="11887200" cy="228600"/>
          </a:xfrm>
          <a:prstGeom prst="rect">
            <a:avLst/>
          </a:prstGeom>
          <a:noFill/>
          <a:ln/>
        </p:spPr>
        <p:txBody>
          <a:bodyPr wrap="square" lIns="0" tIns="0" rIns="0" bIns="0" rtlCol="0" anchor="t"/>
          <a:lstStyle/>
          <a:p>
            <a:pPr indent="0" marL="0">
              <a:buNone/>
            </a:pPr>
            <a:r>
              <a:rPr lang="en-US" sz="900" dirty="0">
                <a:solidFill>
                  <a:srgbClr val="A0B8C9"/>
                </a:solidFill>
                <a:latin typeface="Arial" pitchFamily="34" charset="0"/>
                <a:ea typeface="Arial" pitchFamily="34" charset="-122"/>
                <a:cs typeface="Arial" pitchFamily="34" charset="-120"/>
              </a:rPr>
              <a:t>SEVERE CONVECTIVE RADAR INTELLIGENCE  /  ENGINEERING CASE STUDY</a:t>
            </a:r>
            <a:endParaRPr lang="en-US" sz="900" dirty="0"/>
          </a:p>
        </p:txBody>
      </p:sp>
      <p:sp>
        <p:nvSpPr>
          <p:cNvPr id="7" name="Text 5"/>
          <p:cNvSpPr/>
          <p:nvPr/>
        </p:nvSpPr>
        <p:spPr>
          <a:xfrm>
            <a:off x="13350240" y="7818120"/>
            <a:ext cx="731520" cy="274320"/>
          </a:xfrm>
          <a:prstGeom prst="rect">
            <a:avLst/>
          </a:prstGeom>
          <a:noFill/>
          <a:ln/>
        </p:spPr>
        <p:txBody>
          <a:bodyPr wrap="square" lIns="0" tIns="0" rIns="0" bIns="0" rtlCol="0" anchor="t"/>
          <a:lstStyle/>
          <a:p>
            <a:pPr indent="0" marL="0">
              <a:buNone/>
            </a:pPr>
            <a:r>
              <a:rPr lang="en-US" sz="1100" b="1" dirty="0">
                <a:solidFill>
                  <a:srgbClr val="52D9EE"/>
                </a:solidFill>
                <a:latin typeface="Arial" pitchFamily="34" charset="0"/>
                <a:ea typeface="Arial" pitchFamily="34" charset="-122"/>
                <a:cs typeface="Arial" pitchFamily="34" charset="-120"/>
              </a:rPr>
              <a:t>01 / 08</a:t>
            </a:r>
            <a:endParaRPr lang="en-US" sz="1100" dirty="0"/>
          </a:p>
        </p:txBody>
      </p:sp>
      <p:sp>
        <p:nvSpPr>
          <p:cNvPr id="8" name="Text 6"/>
          <p:cNvSpPr/>
          <p:nvPr/>
        </p:nvSpPr>
        <p:spPr>
          <a:xfrm>
            <a:off x="621792" y="2834640"/>
            <a:ext cx="5486400" cy="1417320"/>
          </a:xfrm>
          <a:prstGeom prst="rect">
            <a:avLst/>
          </a:prstGeom>
          <a:noFill/>
          <a:ln/>
        </p:spPr>
        <p:txBody>
          <a:bodyPr wrap="square" lIns="0" tIns="0" rIns="0" bIns="0" rtlCol="0" anchor="t"/>
          <a:lstStyle/>
          <a:p>
            <a:pPr indent="0" marL="0">
              <a:buNone/>
            </a:pPr>
            <a:r>
              <a:rPr lang="en-US" sz="2600" dirty="0">
                <a:solidFill>
                  <a:srgbClr val="52D9EE"/>
                </a:solidFill>
                <a:latin typeface="Arial" pitchFamily="34" charset="0"/>
                <a:ea typeface="Arial" pitchFamily="34" charset="-122"/>
                <a:cs typeface="Arial" pitchFamily="34" charset="-120"/>
              </a:rPr>
              <a:t>From native radar volumes</a:t>
            </a:r>
            <a:endParaRPr lang="en-US" sz="2600" dirty="0"/>
          </a:p>
          <a:p>
            <a:pPr indent="0" marL="0">
              <a:buNone/>
            </a:pPr>
            <a:r>
              <a:rPr lang="en-US" sz="2600" dirty="0">
                <a:solidFill>
                  <a:srgbClr val="52D9EE"/>
                </a:solidFill>
                <a:latin typeface="Arial" pitchFamily="34" charset="0"/>
                <a:ea typeface="Arial" pitchFamily="34" charset="-122"/>
                <a:cs typeface="Arial" pitchFamily="34" charset="-120"/>
              </a:rPr>
              <a:t>to traceable storm-cell intelligence.</a:t>
            </a:r>
            <a:endParaRPr lang="en-US" sz="2600" dirty="0"/>
          </a:p>
        </p:txBody>
      </p:sp>
      <p:sp>
        <p:nvSpPr>
          <p:cNvPr id="9" name="Text 7"/>
          <p:cNvSpPr/>
          <p:nvPr/>
        </p:nvSpPr>
        <p:spPr>
          <a:xfrm>
            <a:off x="621792" y="4681728"/>
            <a:ext cx="5349240" cy="1097280"/>
          </a:xfrm>
          <a:prstGeom prst="rect">
            <a:avLst/>
          </a:prstGeom>
          <a:noFill/>
          <a:ln/>
        </p:spPr>
        <p:txBody>
          <a:bodyPr wrap="square" lIns="0" tIns="0" rIns="0" bIns="0" rtlCol="0" anchor="t"/>
          <a:lstStyle/>
          <a:p>
            <a:pPr indent="0" marL="0">
              <a:buNone/>
            </a:pPr>
            <a:r>
              <a:rPr lang="en-US" sz="2000" dirty="0">
                <a:solidFill>
                  <a:srgbClr val="A0B8C9"/>
                </a:solidFill>
                <a:latin typeface="Arial" pitchFamily="34" charset="0"/>
                <a:ea typeface="Arial" pitchFamily="34" charset="-122"/>
                <a:cs typeface="Arial" pitchFamily="34" charset="-120"/>
              </a:rPr>
              <a:t>Chapecó · Santa Catarina · Brazil</a:t>
            </a:r>
            <a:endParaRPr lang="en-US" sz="2000" dirty="0"/>
          </a:p>
          <a:p>
            <a:pPr indent="0" marL="0">
              <a:buNone/>
            </a:pPr>
            <a:r>
              <a:rPr lang="en-US" sz="2000" dirty="0">
                <a:solidFill>
                  <a:srgbClr val="A0B8C9"/>
                </a:solidFill>
                <a:latin typeface="Arial" pitchFamily="34" charset="0"/>
                <a:ea typeface="Arial" pitchFamily="34" charset="-122"/>
                <a:cs typeface="Arial" pitchFamily="34" charset="-120"/>
              </a:rPr>
              <a:t>Archived observations: 30 August 2026</a:t>
            </a:r>
            <a:endParaRPr lang="en-US" sz="2000" dirty="0"/>
          </a:p>
        </p:txBody>
      </p:sp>
      <p:sp>
        <p:nvSpPr>
          <p:cNvPr id="10" name="Text 8"/>
          <p:cNvSpPr/>
          <p:nvPr/>
        </p:nvSpPr>
        <p:spPr>
          <a:xfrm>
            <a:off x="621792" y="6583680"/>
            <a:ext cx="4572000" cy="457200"/>
          </a:xfrm>
          <a:prstGeom prst="rect">
            <a:avLst/>
          </a:prstGeom>
          <a:noFill/>
          <a:ln/>
        </p:spPr>
        <p:txBody>
          <a:bodyPr wrap="square" lIns="0" tIns="0" rIns="0" bIns="0" rtlCol="0" anchor="t"/>
          <a:lstStyle/>
          <a:p>
            <a:pPr indent="0" marL="0">
              <a:buNone/>
            </a:pPr>
            <a:r>
              <a:rPr lang="en-US" sz="2200" b="1" dirty="0">
                <a:solidFill>
                  <a:srgbClr val="F1F6FA"/>
                </a:solidFill>
                <a:latin typeface="Arial" pitchFamily="34" charset="0"/>
                <a:ea typeface="Arial" pitchFamily="34" charset="-122"/>
                <a:cs typeface="Arial" pitchFamily="34" charset="-120"/>
              </a:rPr>
              <a:t>Murilo Fretta</a:t>
            </a:r>
            <a:endParaRPr lang="en-US" sz="2200" dirty="0"/>
          </a:p>
        </p:txBody>
      </p:sp>
      <p:pic>
        <p:nvPicPr>
          <p:cNvPr id="11" name="Image 0" descr="C:\Users\ronis\Documents\LinkCast\docs\assets\Platform2.png">    </p:cNvPr>
          <p:cNvPicPr>
            <a:picLocks noChangeAspect="1"/>
          </p:cNvPicPr>
          <p:nvPr/>
        </p:nvPicPr>
        <p:blipFill>
          <a:blip r:embed="rId1"/>
          <a:stretch>
            <a:fillRect/>
          </a:stretch>
        </p:blipFill>
        <p:spPr>
          <a:xfrm>
            <a:off x="6217920" y="2571701"/>
            <a:ext cx="7818120" cy="40920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31F"/>
        </a:solidFill>
      </p:bgPr>
    </p:bg>
    <p:spTree>
      <p:nvGrpSpPr>
        <p:cNvPr id="1" name=""/>
        <p:cNvGrpSpPr/>
        <p:nvPr/>
      </p:nvGrpSpPr>
      <p:grpSpPr>
        <a:xfrm>
          <a:off x="0" y="0"/>
          <a:ext cx="0" cy="0"/>
          <a:chOff x="0" y="0"/>
          <a:chExt cx="0" cy="0"/>
        </a:xfrm>
      </p:grpSpPr>
      <p:sp>
        <p:nvSpPr>
          <p:cNvPr id="2" name="Shape 0"/>
          <p:cNvSpPr/>
          <p:nvPr/>
        </p:nvSpPr>
        <p:spPr>
          <a:xfrm>
            <a:off x="594360" y="502920"/>
            <a:ext cx="384048" cy="50292"/>
          </a:xfrm>
          <a:prstGeom prst="rect">
            <a:avLst/>
          </a:prstGeom>
          <a:solidFill>
            <a:srgbClr val="52D9EE"/>
          </a:solidFill>
          <a:ln w="12700">
            <a:solidFill>
              <a:srgbClr val="52D9EE">
                <a:alpha val="0"/>
              </a:srgbClr>
            </a:solidFill>
            <a:prstDash val="solid"/>
          </a:ln>
        </p:spPr>
      </p:sp>
      <p:sp>
        <p:nvSpPr>
          <p:cNvPr id="3" name="Text 1"/>
          <p:cNvSpPr/>
          <p:nvPr/>
        </p:nvSpPr>
        <p:spPr>
          <a:xfrm>
            <a:off x="1115568" y="393192"/>
            <a:ext cx="11887200" cy="320040"/>
          </a:xfrm>
          <a:prstGeom prst="rect">
            <a:avLst/>
          </a:prstGeom>
          <a:noFill/>
          <a:ln/>
        </p:spPr>
        <p:txBody>
          <a:bodyPr wrap="square" lIns="0" tIns="0" rIns="0" bIns="0" rtlCol="0" anchor="t"/>
          <a:lstStyle/>
          <a:p>
            <a:pPr indent="0" marL="0">
              <a:buNone/>
            </a:pPr>
            <a:r>
              <a:rPr lang="en-US" sz="1200" b="1" dirty="0">
                <a:solidFill>
                  <a:srgbClr val="52D9EE"/>
                </a:solidFill>
                <a:latin typeface="Arial" pitchFamily="34" charset="0"/>
                <a:ea typeface="Arial" pitchFamily="34" charset="-122"/>
                <a:cs typeface="Arial" pitchFamily="34" charset="-120"/>
              </a:rPr>
              <a:t>02 / WHY THIS IS A DATA ENGINEERING PROBLEM</a:t>
            </a:r>
            <a:endParaRPr lang="en-US" sz="1200" dirty="0"/>
          </a:p>
        </p:txBody>
      </p:sp>
      <p:sp>
        <p:nvSpPr>
          <p:cNvPr id="4" name="Text 2"/>
          <p:cNvSpPr/>
          <p:nvPr/>
        </p:nvSpPr>
        <p:spPr>
          <a:xfrm>
            <a:off x="594360" y="960120"/>
            <a:ext cx="13441680" cy="1005840"/>
          </a:xfrm>
          <a:prstGeom prst="rect">
            <a:avLst/>
          </a:prstGeom>
          <a:noFill/>
          <a:ln/>
        </p:spPr>
        <p:txBody>
          <a:bodyPr wrap="square" lIns="0" tIns="0" rIns="0" bIns="0" rtlCol="0" anchor="t"/>
          <a:lstStyle/>
          <a:p>
            <a:pPr indent="0" marL="0">
              <a:buNone/>
            </a:pPr>
            <a:r>
              <a:rPr lang="en-US" sz="3400" b="1" dirty="0">
                <a:solidFill>
                  <a:srgbClr val="F1F6FA"/>
                </a:solidFill>
                <a:latin typeface="Arial" pitchFamily="34" charset="0"/>
                <a:ea typeface="Arial" pitchFamily="34" charset="-122"/>
                <a:cs typeface="Arial" pitchFamily="34" charset="-120"/>
              </a:rPr>
              <a:t>One radar. Many dimensions.</a:t>
            </a:r>
            <a:endParaRPr lang="en-US" sz="3400" dirty="0"/>
          </a:p>
        </p:txBody>
      </p:sp>
      <p:sp>
        <p:nvSpPr>
          <p:cNvPr id="5" name="Text 3"/>
          <p:cNvSpPr/>
          <p:nvPr/>
        </p:nvSpPr>
        <p:spPr>
          <a:xfrm>
            <a:off x="594360" y="1847088"/>
            <a:ext cx="13441680" cy="640080"/>
          </a:xfrm>
          <a:prstGeom prst="rect">
            <a:avLst/>
          </a:prstGeom>
          <a:noFill/>
          <a:ln/>
        </p:spPr>
        <p:txBody>
          <a:bodyPr wrap="square" lIns="0" tIns="0" rIns="0" bIns="0" rtlCol="0" anchor="t"/>
          <a:lstStyle/>
          <a:p>
            <a:pPr indent="0" marL="0">
              <a:buNone/>
            </a:pPr>
            <a:r>
              <a:rPr lang="en-US" sz="1800" dirty="0">
                <a:solidFill>
                  <a:srgbClr val="A0B8C9"/>
                </a:solidFill>
                <a:latin typeface="Arial" pitchFamily="34" charset="0"/>
                <a:ea typeface="Arial" pitchFamily="34" charset="-122"/>
                <a:cs typeface="Arial" pitchFamily="34" charset="-120"/>
              </a:rPr>
              <a:t>Every derived storm object starts with a correctly interpreted observation.</a:t>
            </a:r>
            <a:endParaRPr lang="en-US" sz="1800" dirty="0"/>
          </a:p>
        </p:txBody>
      </p:sp>
      <p:sp>
        <p:nvSpPr>
          <p:cNvPr id="6" name="Shape 4"/>
          <p:cNvSpPr/>
          <p:nvPr/>
        </p:nvSpPr>
        <p:spPr>
          <a:xfrm>
            <a:off x="594360" y="7708392"/>
            <a:ext cx="13441680" cy="13716"/>
          </a:xfrm>
          <a:prstGeom prst="rect">
            <a:avLst/>
          </a:prstGeom>
          <a:solidFill>
            <a:srgbClr val="254354"/>
          </a:solidFill>
          <a:ln w="12700">
            <a:solidFill>
              <a:srgbClr val="254354">
                <a:alpha val="0"/>
              </a:srgbClr>
            </a:solidFill>
            <a:prstDash val="solid"/>
          </a:ln>
        </p:spPr>
      </p:sp>
      <p:sp>
        <p:nvSpPr>
          <p:cNvPr id="7" name="Text 5"/>
          <p:cNvSpPr/>
          <p:nvPr/>
        </p:nvSpPr>
        <p:spPr>
          <a:xfrm>
            <a:off x="594360" y="7845552"/>
            <a:ext cx="11887200" cy="228600"/>
          </a:xfrm>
          <a:prstGeom prst="rect">
            <a:avLst/>
          </a:prstGeom>
          <a:noFill/>
          <a:ln/>
        </p:spPr>
        <p:txBody>
          <a:bodyPr wrap="square" lIns="0" tIns="0" rIns="0" bIns="0" rtlCol="0" anchor="t"/>
          <a:lstStyle/>
          <a:p>
            <a:pPr indent="0" marL="0">
              <a:buNone/>
            </a:pPr>
            <a:r>
              <a:rPr lang="en-US" sz="900" dirty="0">
                <a:solidFill>
                  <a:srgbClr val="A0B8C9"/>
                </a:solidFill>
                <a:latin typeface="Arial" pitchFamily="34" charset="0"/>
                <a:ea typeface="Arial" pitchFamily="34" charset="-122"/>
                <a:cs typeface="Arial" pitchFamily="34" charset="-120"/>
              </a:rPr>
              <a:t>SEVERE CONVECTIVE RADAR INTELLIGENCE  /  ENGINEERING CASE STUDY</a:t>
            </a:r>
            <a:endParaRPr lang="en-US" sz="900" dirty="0"/>
          </a:p>
        </p:txBody>
      </p:sp>
      <p:sp>
        <p:nvSpPr>
          <p:cNvPr id="8" name="Text 6"/>
          <p:cNvSpPr/>
          <p:nvPr/>
        </p:nvSpPr>
        <p:spPr>
          <a:xfrm>
            <a:off x="13350240" y="7818120"/>
            <a:ext cx="731520" cy="274320"/>
          </a:xfrm>
          <a:prstGeom prst="rect">
            <a:avLst/>
          </a:prstGeom>
          <a:noFill/>
          <a:ln/>
        </p:spPr>
        <p:txBody>
          <a:bodyPr wrap="square" lIns="0" tIns="0" rIns="0" bIns="0" rtlCol="0" anchor="t"/>
          <a:lstStyle/>
          <a:p>
            <a:pPr indent="0" marL="0">
              <a:buNone/>
            </a:pPr>
            <a:r>
              <a:rPr lang="en-US" sz="1100" b="1" dirty="0">
                <a:solidFill>
                  <a:srgbClr val="52D9EE"/>
                </a:solidFill>
                <a:latin typeface="Arial" pitchFamily="34" charset="0"/>
                <a:ea typeface="Arial" pitchFamily="34" charset="-122"/>
                <a:cs typeface="Arial" pitchFamily="34" charset="-120"/>
              </a:rPr>
              <a:t>02 / 08</a:t>
            </a:r>
            <a:endParaRPr lang="en-US" sz="1100" dirty="0"/>
          </a:p>
        </p:txBody>
      </p:sp>
      <p:sp>
        <p:nvSpPr>
          <p:cNvPr id="9" name="Shape 7"/>
          <p:cNvSpPr/>
          <p:nvPr/>
        </p:nvSpPr>
        <p:spPr>
          <a:xfrm>
            <a:off x="594360" y="2697480"/>
            <a:ext cx="4315968" cy="1463040"/>
          </a:xfrm>
          <a:prstGeom prst="rect">
            <a:avLst/>
          </a:prstGeom>
          <a:solidFill>
            <a:srgbClr val="102536"/>
          </a:solidFill>
          <a:ln w="12700">
            <a:solidFill>
              <a:srgbClr val="102536">
                <a:alpha val="0"/>
              </a:srgbClr>
            </a:solidFill>
            <a:prstDash val="solid"/>
          </a:ln>
        </p:spPr>
      </p:sp>
      <p:sp>
        <p:nvSpPr>
          <p:cNvPr id="10" name="Text 8"/>
          <p:cNvSpPr/>
          <p:nvPr/>
        </p:nvSpPr>
        <p:spPr>
          <a:xfrm>
            <a:off x="822960" y="2834640"/>
            <a:ext cx="3840480" cy="640080"/>
          </a:xfrm>
          <a:prstGeom prst="rect">
            <a:avLst/>
          </a:prstGeom>
          <a:noFill/>
          <a:ln/>
        </p:spPr>
        <p:txBody>
          <a:bodyPr wrap="square" lIns="0" tIns="0" rIns="0" bIns="0" rtlCol="0" anchor="t"/>
          <a:lstStyle/>
          <a:p>
            <a:pPr indent="0" marL="0">
              <a:buNone/>
            </a:pPr>
            <a:r>
              <a:rPr lang="en-US" sz="4000" b="1" dirty="0">
                <a:solidFill>
                  <a:srgbClr val="52D9EE"/>
                </a:solidFill>
                <a:latin typeface="Arial" pitchFamily="34" charset="0"/>
                <a:ea typeface="Arial" pitchFamily="34" charset="-122"/>
                <a:cs typeface="Arial" pitchFamily="34" charset="-120"/>
              </a:rPr>
              <a:t>2,045</a:t>
            </a:r>
            <a:endParaRPr lang="en-US" sz="4000" dirty="0"/>
          </a:p>
        </p:txBody>
      </p:sp>
      <p:sp>
        <p:nvSpPr>
          <p:cNvPr id="11" name="Text 9"/>
          <p:cNvSpPr/>
          <p:nvPr/>
        </p:nvSpPr>
        <p:spPr>
          <a:xfrm>
            <a:off x="822960" y="3611880"/>
            <a:ext cx="3840480" cy="365760"/>
          </a:xfrm>
          <a:prstGeom prst="rect">
            <a:avLst/>
          </a:prstGeom>
          <a:noFill/>
          <a:ln/>
        </p:spPr>
        <p:txBody>
          <a:bodyPr wrap="square" lIns="0" tIns="0" rIns="0" bIns="0" rtlCol="0" anchor="t"/>
          <a:lstStyle/>
          <a:p>
            <a:pPr indent="0" marL="0">
              <a:buNone/>
            </a:pPr>
            <a:r>
              <a:rPr lang="en-US" sz="1700" dirty="0">
                <a:solidFill>
                  <a:srgbClr val="A0B8C9"/>
                </a:solidFill>
                <a:latin typeface="Arial" pitchFamily="34" charset="0"/>
                <a:ea typeface="Arial" pitchFamily="34" charset="-122"/>
                <a:cs typeface="Arial" pitchFamily="34" charset="-120"/>
              </a:rPr>
              <a:t>Native Rainbow .vol files</a:t>
            </a:r>
            <a:endParaRPr lang="en-US" sz="1700" dirty="0"/>
          </a:p>
        </p:txBody>
      </p:sp>
      <p:sp>
        <p:nvSpPr>
          <p:cNvPr id="12" name="Shape 10"/>
          <p:cNvSpPr/>
          <p:nvPr/>
        </p:nvSpPr>
        <p:spPr>
          <a:xfrm>
            <a:off x="5148072" y="2697480"/>
            <a:ext cx="4315968" cy="1463040"/>
          </a:xfrm>
          <a:prstGeom prst="rect">
            <a:avLst/>
          </a:prstGeom>
          <a:solidFill>
            <a:srgbClr val="102536"/>
          </a:solidFill>
          <a:ln w="12700">
            <a:solidFill>
              <a:srgbClr val="102536">
                <a:alpha val="0"/>
              </a:srgbClr>
            </a:solidFill>
            <a:prstDash val="solid"/>
          </a:ln>
        </p:spPr>
      </p:sp>
      <p:sp>
        <p:nvSpPr>
          <p:cNvPr id="13" name="Text 11"/>
          <p:cNvSpPr/>
          <p:nvPr/>
        </p:nvSpPr>
        <p:spPr>
          <a:xfrm>
            <a:off x="5376672" y="2834640"/>
            <a:ext cx="3840480" cy="640080"/>
          </a:xfrm>
          <a:prstGeom prst="rect">
            <a:avLst/>
          </a:prstGeom>
          <a:noFill/>
          <a:ln/>
        </p:spPr>
        <p:txBody>
          <a:bodyPr wrap="square" lIns="0" tIns="0" rIns="0" bIns="0" rtlCol="0" anchor="t"/>
          <a:lstStyle/>
          <a:p>
            <a:pPr indent="0" marL="0">
              <a:buNone/>
            </a:pPr>
            <a:r>
              <a:rPr lang="en-US" sz="4000" b="1" dirty="0">
                <a:solidFill>
                  <a:srgbClr val="52D9EE"/>
                </a:solidFill>
                <a:latin typeface="Arial" pitchFamily="34" charset="0"/>
                <a:ea typeface="Arial" pitchFamily="34" charset="-122"/>
                <a:cs typeface="Arial" pitchFamily="34" charset="-120"/>
              </a:rPr>
              <a:t>233</a:t>
            </a:r>
            <a:endParaRPr lang="en-US" sz="4000" dirty="0"/>
          </a:p>
        </p:txBody>
      </p:sp>
      <p:sp>
        <p:nvSpPr>
          <p:cNvPr id="14" name="Text 12"/>
          <p:cNvSpPr/>
          <p:nvPr/>
        </p:nvSpPr>
        <p:spPr>
          <a:xfrm>
            <a:off x="5376672" y="3611880"/>
            <a:ext cx="3840480" cy="365760"/>
          </a:xfrm>
          <a:prstGeom prst="rect">
            <a:avLst/>
          </a:prstGeom>
          <a:noFill/>
          <a:ln/>
        </p:spPr>
        <p:txBody>
          <a:bodyPr wrap="square" lIns="0" tIns="0" rIns="0" bIns="0" rtlCol="0" anchor="t"/>
          <a:lstStyle/>
          <a:p>
            <a:pPr indent="0" marL="0">
              <a:buNone/>
            </a:pPr>
            <a:r>
              <a:rPr lang="en-US" sz="1700" dirty="0">
                <a:solidFill>
                  <a:srgbClr val="A0B8C9"/>
                </a:solidFill>
                <a:latin typeface="Arial" pitchFamily="34" charset="0"/>
                <a:ea typeface="Arial" pitchFamily="34" charset="-122"/>
                <a:cs typeface="Arial" pitchFamily="34" charset="-120"/>
              </a:rPr>
              <a:t>Timestamp groups</a:t>
            </a:r>
            <a:endParaRPr lang="en-US" sz="1700" dirty="0"/>
          </a:p>
        </p:txBody>
      </p:sp>
      <p:sp>
        <p:nvSpPr>
          <p:cNvPr id="15" name="Shape 13"/>
          <p:cNvSpPr/>
          <p:nvPr/>
        </p:nvSpPr>
        <p:spPr>
          <a:xfrm>
            <a:off x="9701784" y="2697480"/>
            <a:ext cx="4315968" cy="1463040"/>
          </a:xfrm>
          <a:prstGeom prst="rect">
            <a:avLst/>
          </a:prstGeom>
          <a:solidFill>
            <a:srgbClr val="102536"/>
          </a:solidFill>
          <a:ln w="12700">
            <a:solidFill>
              <a:srgbClr val="102536">
                <a:alpha val="0"/>
              </a:srgbClr>
            </a:solidFill>
            <a:prstDash val="solid"/>
          </a:ln>
        </p:spPr>
      </p:sp>
      <p:sp>
        <p:nvSpPr>
          <p:cNvPr id="16" name="Text 14"/>
          <p:cNvSpPr/>
          <p:nvPr/>
        </p:nvSpPr>
        <p:spPr>
          <a:xfrm>
            <a:off x="9930384" y="2834640"/>
            <a:ext cx="3840480" cy="640080"/>
          </a:xfrm>
          <a:prstGeom prst="rect">
            <a:avLst/>
          </a:prstGeom>
          <a:noFill/>
          <a:ln/>
        </p:spPr>
        <p:txBody>
          <a:bodyPr wrap="square" lIns="0" tIns="0" rIns="0" bIns="0" rtlCol="0" anchor="t"/>
          <a:lstStyle/>
          <a:p>
            <a:pPr indent="0" marL="0">
              <a:buNone/>
            </a:pPr>
            <a:r>
              <a:rPr lang="en-US" sz="4000" b="1" dirty="0">
                <a:solidFill>
                  <a:srgbClr val="52D9EE"/>
                </a:solidFill>
                <a:latin typeface="Arial" pitchFamily="34" charset="0"/>
                <a:ea typeface="Arial" pitchFamily="34" charset="-122"/>
                <a:cs typeface="Arial" pitchFamily="34" charset="-120"/>
              </a:rPr>
              <a:t>14</a:t>
            </a:r>
            <a:endParaRPr lang="en-US" sz="4000" dirty="0"/>
          </a:p>
        </p:txBody>
      </p:sp>
      <p:sp>
        <p:nvSpPr>
          <p:cNvPr id="17" name="Text 15"/>
          <p:cNvSpPr/>
          <p:nvPr/>
        </p:nvSpPr>
        <p:spPr>
          <a:xfrm>
            <a:off x="9930384" y="3611880"/>
            <a:ext cx="3840480" cy="365760"/>
          </a:xfrm>
          <a:prstGeom prst="rect">
            <a:avLst/>
          </a:prstGeom>
          <a:noFill/>
          <a:ln/>
        </p:spPr>
        <p:txBody>
          <a:bodyPr wrap="square" lIns="0" tIns="0" rIns="0" bIns="0" rtlCol="0" anchor="t"/>
          <a:lstStyle/>
          <a:p>
            <a:pPr indent="0" marL="0">
              <a:buNone/>
            </a:pPr>
            <a:r>
              <a:rPr lang="en-US" sz="1700" dirty="0">
                <a:solidFill>
                  <a:srgbClr val="A0B8C9"/>
                </a:solidFill>
                <a:latin typeface="Arial" pitchFamily="34" charset="0"/>
                <a:ea typeface="Arial" pitchFamily="34" charset="-122"/>
                <a:cs typeface="Arial" pitchFamily="34" charset="-120"/>
              </a:rPr>
              <a:t>Elevation slices</a:t>
            </a:r>
            <a:endParaRPr lang="en-US" sz="1700" dirty="0"/>
          </a:p>
        </p:txBody>
      </p:sp>
      <p:sp>
        <p:nvSpPr>
          <p:cNvPr id="18" name="Shape 16"/>
          <p:cNvSpPr/>
          <p:nvPr/>
        </p:nvSpPr>
        <p:spPr>
          <a:xfrm>
            <a:off x="594360" y="4526280"/>
            <a:ext cx="6492240" cy="2606040"/>
          </a:xfrm>
          <a:prstGeom prst="rect">
            <a:avLst/>
          </a:prstGeom>
          <a:solidFill>
            <a:srgbClr val="102536"/>
          </a:solidFill>
          <a:ln w="12700">
            <a:solidFill>
              <a:srgbClr val="102536">
                <a:alpha val="0"/>
              </a:srgbClr>
            </a:solidFill>
            <a:prstDash val="solid"/>
          </a:ln>
        </p:spPr>
      </p:sp>
      <p:sp>
        <p:nvSpPr>
          <p:cNvPr id="19" name="Shape 17"/>
          <p:cNvSpPr/>
          <p:nvPr/>
        </p:nvSpPr>
        <p:spPr>
          <a:xfrm>
            <a:off x="594360" y="4526280"/>
            <a:ext cx="41148" cy="2606040"/>
          </a:xfrm>
          <a:prstGeom prst="rect">
            <a:avLst/>
          </a:prstGeom>
          <a:solidFill>
            <a:srgbClr val="52D9EE"/>
          </a:solidFill>
          <a:ln w="12700">
            <a:solidFill>
              <a:srgbClr val="52D9EE">
                <a:alpha val="0"/>
              </a:srgbClr>
            </a:solidFill>
            <a:prstDash val="solid"/>
          </a:ln>
        </p:spPr>
      </p:sp>
      <p:sp>
        <p:nvSpPr>
          <p:cNvPr id="20" name="Text 18"/>
          <p:cNvSpPr/>
          <p:nvPr/>
        </p:nvSpPr>
        <p:spPr>
          <a:xfrm>
            <a:off x="822960" y="4745736"/>
            <a:ext cx="6035040" cy="594360"/>
          </a:xfrm>
          <a:prstGeom prst="rect">
            <a:avLst/>
          </a:prstGeom>
          <a:noFill/>
          <a:ln/>
        </p:spPr>
        <p:txBody>
          <a:bodyPr wrap="square" lIns="0" tIns="0" rIns="0" bIns="0" rtlCol="0" anchor="t"/>
          <a:lstStyle/>
          <a:p>
            <a:pPr indent="0" marL="0">
              <a:buNone/>
            </a:pPr>
            <a:r>
              <a:rPr lang="en-US" sz="2300" b="1" dirty="0">
                <a:solidFill>
                  <a:srgbClr val="52D9EE"/>
                </a:solidFill>
                <a:latin typeface="Arial" pitchFamily="34" charset="0"/>
                <a:ea typeface="Arial" pitchFamily="34" charset="-122"/>
                <a:cs typeface="Arial" pitchFamily="34" charset="-120"/>
              </a:rPr>
              <a:t>DECODE THE OBSERVATION</a:t>
            </a:r>
            <a:endParaRPr lang="en-US" sz="2300" dirty="0"/>
          </a:p>
        </p:txBody>
      </p:sp>
      <p:sp>
        <p:nvSpPr>
          <p:cNvPr id="21" name="Text 19"/>
          <p:cNvSpPr/>
          <p:nvPr/>
        </p:nvSpPr>
        <p:spPr>
          <a:xfrm>
            <a:off x="822960" y="5458968"/>
            <a:ext cx="6035040" cy="1554480"/>
          </a:xfrm>
          <a:prstGeom prst="rect">
            <a:avLst/>
          </a:prstGeom>
          <a:noFill/>
          <a:ln/>
        </p:spPr>
        <p:txBody>
          <a:bodyPr wrap="square" lIns="0" tIns="0" rIns="0" bIns="0" rtlCol="0" anchor="t"/>
          <a:lstStyle/>
          <a:p>
            <a:pPr indent="0" marL="0">
              <a:buNone/>
            </a:pPr>
            <a:r>
              <a:rPr lang="en-US" sz="1900" dirty="0">
                <a:solidFill>
                  <a:srgbClr val="F1F6FA"/>
                </a:solidFill>
                <a:latin typeface="Arial" pitchFamily="34" charset="0"/>
                <a:ea typeface="Arial" pitchFamily="34" charset="-122"/>
                <a:cs typeface="Arial" pitchFamily="34" charset="-120"/>
              </a:rPr>
              <a:t>Read actual fields, scaling, timestamps,</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range and elevation metadata.</a:t>
            </a:r>
            <a:endParaRPr lang="en-US" sz="1900" dirty="0"/>
          </a:p>
        </p:txBody>
      </p:sp>
      <p:sp>
        <p:nvSpPr>
          <p:cNvPr id="22" name="Shape 20"/>
          <p:cNvSpPr/>
          <p:nvPr/>
        </p:nvSpPr>
        <p:spPr>
          <a:xfrm>
            <a:off x="7333488" y="4526280"/>
            <a:ext cx="6684264" cy="2606040"/>
          </a:xfrm>
          <a:prstGeom prst="rect">
            <a:avLst/>
          </a:prstGeom>
          <a:solidFill>
            <a:srgbClr val="102536"/>
          </a:solidFill>
          <a:ln w="12700">
            <a:solidFill>
              <a:srgbClr val="102536">
                <a:alpha val="0"/>
              </a:srgbClr>
            </a:solidFill>
            <a:prstDash val="solid"/>
          </a:ln>
        </p:spPr>
      </p:sp>
      <p:sp>
        <p:nvSpPr>
          <p:cNvPr id="23" name="Shape 21"/>
          <p:cNvSpPr/>
          <p:nvPr/>
        </p:nvSpPr>
        <p:spPr>
          <a:xfrm>
            <a:off x="7333488" y="4526280"/>
            <a:ext cx="41148" cy="2606040"/>
          </a:xfrm>
          <a:prstGeom prst="rect">
            <a:avLst/>
          </a:prstGeom>
          <a:solidFill>
            <a:srgbClr val="52D9EE"/>
          </a:solidFill>
          <a:ln w="12700">
            <a:solidFill>
              <a:srgbClr val="52D9EE">
                <a:alpha val="0"/>
              </a:srgbClr>
            </a:solidFill>
            <a:prstDash val="solid"/>
          </a:ln>
        </p:spPr>
      </p:sp>
      <p:sp>
        <p:nvSpPr>
          <p:cNvPr id="24" name="Text 22"/>
          <p:cNvSpPr/>
          <p:nvPr/>
        </p:nvSpPr>
        <p:spPr>
          <a:xfrm>
            <a:off x="7562088" y="4745736"/>
            <a:ext cx="6227064" cy="594360"/>
          </a:xfrm>
          <a:prstGeom prst="rect">
            <a:avLst/>
          </a:prstGeom>
          <a:noFill/>
          <a:ln/>
        </p:spPr>
        <p:txBody>
          <a:bodyPr wrap="square" lIns="0" tIns="0" rIns="0" bIns="0" rtlCol="0" anchor="t"/>
          <a:lstStyle/>
          <a:p>
            <a:pPr indent="0" marL="0">
              <a:buNone/>
            </a:pPr>
            <a:r>
              <a:rPr lang="en-US" sz="2300" b="1" dirty="0">
                <a:solidFill>
                  <a:srgbClr val="52D9EE"/>
                </a:solidFill>
                <a:latin typeface="Arial" pitchFamily="34" charset="0"/>
                <a:ea typeface="Arial" pitchFamily="34" charset="-122"/>
                <a:cs typeface="Arial" pitchFamily="34" charset="-120"/>
              </a:rPr>
              <a:t>PRESERVE THE CONTEXT</a:t>
            </a:r>
            <a:endParaRPr lang="en-US" sz="2300" dirty="0"/>
          </a:p>
        </p:txBody>
      </p:sp>
      <p:sp>
        <p:nvSpPr>
          <p:cNvPr id="25" name="Text 23"/>
          <p:cNvSpPr/>
          <p:nvPr/>
        </p:nvSpPr>
        <p:spPr>
          <a:xfrm>
            <a:off x="7562088" y="5458968"/>
            <a:ext cx="6227064" cy="1554480"/>
          </a:xfrm>
          <a:prstGeom prst="rect">
            <a:avLst/>
          </a:prstGeom>
          <a:noFill/>
          <a:ln/>
        </p:spPr>
        <p:txBody>
          <a:bodyPr wrap="square" lIns="0" tIns="0" rIns="0" bIns="0" rtlCol="0" anchor="t"/>
          <a:lstStyle/>
          <a:p>
            <a:pPr indent="0" marL="0">
              <a:buNone/>
            </a:pPr>
            <a:r>
              <a:rPr lang="en-US" sz="1900" dirty="0">
                <a:solidFill>
                  <a:srgbClr val="F1F6FA"/>
                </a:solidFill>
                <a:latin typeface="Arial" pitchFamily="34" charset="0"/>
                <a:ea typeface="Arial" pitchFamily="34" charset="-122"/>
                <a:cs typeface="Arial" pitchFamily="34" charset="-120"/>
              </a:rPr>
              <a:t>Keep source files, missing values and</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coverage explicit through processing.</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31F"/>
        </a:solidFill>
      </p:bgPr>
    </p:bg>
    <p:spTree>
      <p:nvGrpSpPr>
        <p:cNvPr id="1" name=""/>
        <p:cNvGrpSpPr/>
        <p:nvPr/>
      </p:nvGrpSpPr>
      <p:grpSpPr>
        <a:xfrm>
          <a:off x="0" y="0"/>
          <a:ext cx="0" cy="0"/>
          <a:chOff x="0" y="0"/>
          <a:chExt cx="0" cy="0"/>
        </a:xfrm>
      </p:grpSpPr>
      <p:sp>
        <p:nvSpPr>
          <p:cNvPr id="2" name="Shape 0"/>
          <p:cNvSpPr/>
          <p:nvPr/>
        </p:nvSpPr>
        <p:spPr>
          <a:xfrm>
            <a:off x="594360" y="502920"/>
            <a:ext cx="384048" cy="50292"/>
          </a:xfrm>
          <a:prstGeom prst="rect">
            <a:avLst/>
          </a:prstGeom>
          <a:solidFill>
            <a:srgbClr val="52D9EE"/>
          </a:solidFill>
          <a:ln w="12700">
            <a:solidFill>
              <a:srgbClr val="52D9EE">
                <a:alpha val="0"/>
              </a:srgbClr>
            </a:solidFill>
            <a:prstDash val="solid"/>
          </a:ln>
        </p:spPr>
      </p:sp>
      <p:sp>
        <p:nvSpPr>
          <p:cNvPr id="3" name="Text 1"/>
          <p:cNvSpPr/>
          <p:nvPr/>
        </p:nvSpPr>
        <p:spPr>
          <a:xfrm>
            <a:off x="1115568" y="393192"/>
            <a:ext cx="11887200" cy="320040"/>
          </a:xfrm>
          <a:prstGeom prst="rect">
            <a:avLst/>
          </a:prstGeom>
          <a:noFill/>
          <a:ln/>
        </p:spPr>
        <p:txBody>
          <a:bodyPr wrap="square" lIns="0" tIns="0" rIns="0" bIns="0" rtlCol="0" anchor="t"/>
          <a:lstStyle/>
          <a:p>
            <a:pPr indent="0" marL="0">
              <a:buNone/>
            </a:pPr>
            <a:r>
              <a:rPr lang="en-US" sz="1200" b="1" dirty="0">
                <a:solidFill>
                  <a:srgbClr val="52D9EE"/>
                </a:solidFill>
                <a:latin typeface="Arial" pitchFamily="34" charset="0"/>
                <a:ea typeface="Arial" pitchFamily="34" charset="-122"/>
                <a:cs typeface="Arial" pitchFamily="34" charset="-120"/>
              </a:rPr>
              <a:t>03 / ARCHITECTURE</a:t>
            </a:r>
            <a:endParaRPr lang="en-US" sz="1200" dirty="0"/>
          </a:p>
        </p:txBody>
      </p:sp>
      <p:sp>
        <p:nvSpPr>
          <p:cNvPr id="4" name="Text 2"/>
          <p:cNvSpPr/>
          <p:nvPr/>
        </p:nvSpPr>
        <p:spPr>
          <a:xfrm>
            <a:off x="594360" y="960120"/>
            <a:ext cx="13441680" cy="1005840"/>
          </a:xfrm>
          <a:prstGeom prst="rect">
            <a:avLst/>
          </a:prstGeom>
          <a:noFill/>
          <a:ln/>
        </p:spPr>
        <p:txBody>
          <a:bodyPr wrap="square" lIns="0" tIns="0" rIns="0" bIns="0" rtlCol="0" anchor="t"/>
          <a:lstStyle/>
          <a:p>
            <a:pPr indent="0" marL="0">
              <a:buNone/>
            </a:pPr>
            <a:r>
              <a:rPr lang="en-US" sz="3400" b="1" dirty="0">
                <a:solidFill>
                  <a:srgbClr val="F1F6FA"/>
                </a:solidFill>
                <a:latin typeface="Arial" pitchFamily="34" charset="0"/>
                <a:ea typeface="Arial" pitchFamily="34" charset="-122"/>
                <a:cs typeface="Arial" pitchFamily="34" charset="-120"/>
              </a:rPr>
              <a:t>A medallion pipeline with traceable outputs</a:t>
            </a:r>
            <a:endParaRPr lang="en-US" sz="3400" dirty="0"/>
          </a:p>
        </p:txBody>
      </p:sp>
      <p:sp>
        <p:nvSpPr>
          <p:cNvPr id="5" name="Shape 3"/>
          <p:cNvSpPr/>
          <p:nvPr/>
        </p:nvSpPr>
        <p:spPr>
          <a:xfrm>
            <a:off x="594360" y="7708392"/>
            <a:ext cx="13441680" cy="13716"/>
          </a:xfrm>
          <a:prstGeom prst="rect">
            <a:avLst/>
          </a:prstGeom>
          <a:solidFill>
            <a:srgbClr val="254354"/>
          </a:solidFill>
          <a:ln w="12700">
            <a:solidFill>
              <a:srgbClr val="254354">
                <a:alpha val="0"/>
              </a:srgbClr>
            </a:solidFill>
            <a:prstDash val="solid"/>
          </a:ln>
        </p:spPr>
      </p:sp>
      <p:sp>
        <p:nvSpPr>
          <p:cNvPr id="6" name="Text 4"/>
          <p:cNvSpPr/>
          <p:nvPr/>
        </p:nvSpPr>
        <p:spPr>
          <a:xfrm>
            <a:off x="594360" y="7845552"/>
            <a:ext cx="11887200" cy="228600"/>
          </a:xfrm>
          <a:prstGeom prst="rect">
            <a:avLst/>
          </a:prstGeom>
          <a:noFill/>
          <a:ln/>
        </p:spPr>
        <p:txBody>
          <a:bodyPr wrap="square" lIns="0" tIns="0" rIns="0" bIns="0" rtlCol="0" anchor="t"/>
          <a:lstStyle/>
          <a:p>
            <a:pPr indent="0" marL="0">
              <a:buNone/>
            </a:pPr>
            <a:r>
              <a:rPr lang="en-US" sz="900" dirty="0">
                <a:solidFill>
                  <a:srgbClr val="A0B8C9"/>
                </a:solidFill>
                <a:latin typeface="Arial" pitchFamily="34" charset="0"/>
                <a:ea typeface="Arial" pitchFamily="34" charset="-122"/>
                <a:cs typeface="Arial" pitchFamily="34" charset="-120"/>
              </a:rPr>
              <a:t>SEVERE CONVECTIVE RADAR INTELLIGENCE  /  ENGINEERING CASE STUDY</a:t>
            </a:r>
            <a:endParaRPr lang="en-US" sz="900" dirty="0"/>
          </a:p>
        </p:txBody>
      </p:sp>
      <p:sp>
        <p:nvSpPr>
          <p:cNvPr id="7" name="Text 5"/>
          <p:cNvSpPr/>
          <p:nvPr/>
        </p:nvSpPr>
        <p:spPr>
          <a:xfrm>
            <a:off x="13350240" y="7818120"/>
            <a:ext cx="731520" cy="274320"/>
          </a:xfrm>
          <a:prstGeom prst="rect">
            <a:avLst/>
          </a:prstGeom>
          <a:noFill/>
          <a:ln/>
        </p:spPr>
        <p:txBody>
          <a:bodyPr wrap="square" lIns="0" tIns="0" rIns="0" bIns="0" rtlCol="0" anchor="t"/>
          <a:lstStyle/>
          <a:p>
            <a:pPr indent="0" marL="0">
              <a:buNone/>
            </a:pPr>
            <a:r>
              <a:rPr lang="en-US" sz="1100" b="1" dirty="0">
                <a:solidFill>
                  <a:srgbClr val="52D9EE"/>
                </a:solidFill>
                <a:latin typeface="Arial" pitchFamily="34" charset="0"/>
                <a:ea typeface="Arial" pitchFamily="34" charset="-122"/>
                <a:cs typeface="Arial" pitchFamily="34" charset="-120"/>
              </a:rPr>
              <a:t>03 / 08</a:t>
            </a:r>
            <a:endParaRPr lang="en-US" sz="1100" dirty="0"/>
          </a:p>
        </p:txBody>
      </p:sp>
      <p:pic>
        <p:nvPicPr>
          <p:cNvPr id="8" name="Image 0" descr="C:\Users\ronis\Documents\LinkCast\docs\assets\severe-convective-radar-intelligence-architecture.png">    </p:cNvPr>
          <p:cNvPicPr>
            <a:picLocks noChangeAspect="1"/>
          </p:cNvPicPr>
          <p:nvPr/>
        </p:nvPicPr>
        <p:blipFill>
          <a:blip r:embed="rId1"/>
          <a:stretch>
            <a:fillRect/>
          </a:stretch>
        </p:blipFill>
        <p:spPr>
          <a:xfrm>
            <a:off x="2465362" y="1938528"/>
            <a:ext cx="9699675" cy="54589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31F"/>
        </a:solidFill>
      </p:bgPr>
    </p:bg>
    <p:spTree>
      <p:nvGrpSpPr>
        <p:cNvPr id="1" name=""/>
        <p:cNvGrpSpPr/>
        <p:nvPr/>
      </p:nvGrpSpPr>
      <p:grpSpPr>
        <a:xfrm>
          <a:off x="0" y="0"/>
          <a:ext cx="0" cy="0"/>
          <a:chOff x="0" y="0"/>
          <a:chExt cx="0" cy="0"/>
        </a:xfrm>
      </p:grpSpPr>
      <p:sp>
        <p:nvSpPr>
          <p:cNvPr id="2" name="Shape 0"/>
          <p:cNvSpPr/>
          <p:nvPr/>
        </p:nvSpPr>
        <p:spPr>
          <a:xfrm>
            <a:off x="594360" y="502920"/>
            <a:ext cx="384048" cy="50292"/>
          </a:xfrm>
          <a:prstGeom prst="rect">
            <a:avLst/>
          </a:prstGeom>
          <a:solidFill>
            <a:srgbClr val="52D9EE"/>
          </a:solidFill>
          <a:ln w="12700">
            <a:solidFill>
              <a:srgbClr val="52D9EE">
                <a:alpha val="0"/>
              </a:srgbClr>
            </a:solidFill>
            <a:prstDash val="solid"/>
          </a:ln>
        </p:spPr>
      </p:sp>
      <p:sp>
        <p:nvSpPr>
          <p:cNvPr id="3" name="Text 1"/>
          <p:cNvSpPr/>
          <p:nvPr/>
        </p:nvSpPr>
        <p:spPr>
          <a:xfrm>
            <a:off x="1115568" y="393192"/>
            <a:ext cx="11887200" cy="320040"/>
          </a:xfrm>
          <a:prstGeom prst="rect">
            <a:avLst/>
          </a:prstGeom>
          <a:noFill/>
          <a:ln/>
        </p:spPr>
        <p:txBody>
          <a:bodyPr wrap="square" lIns="0" tIns="0" rIns="0" bIns="0" rtlCol="0" anchor="t"/>
          <a:lstStyle/>
          <a:p>
            <a:pPr indent="0" marL="0">
              <a:buNone/>
            </a:pPr>
            <a:r>
              <a:rPr lang="en-US" sz="1200" b="1" dirty="0">
                <a:solidFill>
                  <a:srgbClr val="52D9EE"/>
                </a:solidFill>
                <a:latin typeface="Arial" pitchFamily="34" charset="0"/>
                <a:ea typeface="Arial" pitchFamily="34" charset="-122"/>
                <a:cs typeface="Arial" pitchFamily="34" charset="-120"/>
              </a:rPr>
              <a:t>04 / DATA QUALITY</a:t>
            </a:r>
            <a:endParaRPr lang="en-US" sz="1200" dirty="0"/>
          </a:p>
        </p:txBody>
      </p:sp>
      <p:sp>
        <p:nvSpPr>
          <p:cNvPr id="4" name="Text 2"/>
          <p:cNvSpPr/>
          <p:nvPr/>
        </p:nvSpPr>
        <p:spPr>
          <a:xfrm>
            <a:off x="594360" y="960120"/>
            <a:ext cx="13441680" cy="1005840"/>
          </a:xfrm>
          <a:prstGeom prst="rect">
            <a:avLst/>
          </a:prstGeom>
          <a:noFill/>
          <a:ln/>
        </p:spPr>
        <p:txBody>
          <a:bodyPr wrap="square" lIns="0" tIns="0" rIns="0" bIns="0" rtlCol="0" anchor="t"/>
          <a:lstStyle/>
          <a:p>
            <a:pPr indent="0" marL="0">
              <a:buNone/>
            </a:pPr>
            <a:r>
              <a:rPr lang="en-US" sz="3400" b="1" dirty="0">
                <a:solidFill>
                  <a:srgbClr val="F1F6FA"/>
                </a:solidFill>
                <a:latin typeface="Arial" pitchFamily="34" charset="0"/>
                <a:ea typeface="Arial" pitchFamily="34" charset="-122"/>
                <a:cs typeface="Arial" pitchFamily="34" charset="-120"/>
              </a:rPr>
              <a:t>Trust is built at every transformation.</a:t>
            </a:r>
            <a:endParaRPr lang="en-US" sz="3400" dirty="0"/>
          </a:p>
        </p:txBody>
      </p:sp>
      <p:sp>
        <p:nvSpPr>
          <p:cNvPr id="5" name="Text 3"/>
          <p:cNvSpPr/>
          <p:nvPr/>
        </p:nvSpPr>
        <p:spPr>
          <a:xfrm>
            <a:off x="594360" y="1847088"/>
            <a:ext cx="13441680" cy="640080"/>
          </a:xfrm>
          <a:prstGeom prst="rect">
            <a:avLst/>
          </a:prstGeom>
          <a:noFill/>
          <a:ln/>
        </p:spPr>
        <p:txBody>
          <a:bodyPr wrap="square" lIns="0" tIns="0" rIns="0" bIns="0" rtlCol="0" anchor="t"/>
          <a:lstStyle/>
          <a:p>
            <a:pPr indent="0" marL="0">
              <a:buNone/>
            </a:pPr>
            <a:r>
              <a:rPr lang="en-US" sz="1800" dirty="0">
                <a:solidFill>
                  <a:srgbClr val="A0B8C9"/>
                </a:solidFill>
                <a:latin typeface="Arial" pitchFamily="34" charset="0"/>
                <a:ea typeface="Arial" pitchFamily="34" charset="-122"/>
                <a:cs typeface="Arial" pitchFamily="34" charset="-120"/>
              </a:rPr>
              <a:t>Validation covers the file, the measurement and the derived product.</a:t>
            </a:r>
            <a:endParaRPr lang="en-US" sz="1800" dirty="0"/>
          </a:p>
        </p:txBody>
      </p:sp>
      <p:sp>
        <p:nvSpPr>
          <p:cNvPr id="6" name="Shape 4"/>
          <p:cNvSpPr/>
          <p:nvPr/>
        </p:nvSpPr>
        <p:spPr>
          <a:xfrm>
            <a:off x="594360" y="7708392"/>
            <a:ext cx="13441680" cy="13716"/>
          </a:xfrm>
          <a:prstGeom prst="rect">
            <a:avLst/>
          </a:prstGeom>
          <a:solidFill>
            <a:srgbClr val="254354"/>
          </a:solidFill>
          <a:ln w="12700">
            <a:solidFill>
              <a:srgbClr val="254354">
                <a:alpha val="0"/>
              </a:srgbClr>
            </a:solidFill>
            <a:prstDash val="solid"/>
          </a:ln>
        </p:spPr>
      </p:sp>
      <p:sp>
        <p:nvSpPr>
          <p:cNvPr id="7" name="Text 5"/>
          <p:cNvSpPr/>
          <p:nvPr/>
        </p:nvSpPr>
        <p:spPr>
          <a:xfrm>
            <a:off x="594360" y="7845552"/>
            <a:ext cx="11887200" cy="228600"/>
          </a:xfrm>
          <a:prstGeom prst="rect">
            <a:avLst/>
          </a:prstGeom>
          <a:noFill/>
          <a:ln/>
        </p:spPr>
        <p:txBody>
          <a:bodyPr wrap="square" lIns="0" tIns="0" rIns="0" bIns="0" rtlCol="0" anchor="t"/>
          <a:lstStyle/>
          <a:p>
            <a:pPr indent="0" marL="0">
              <a:buNone/>
            </a:pPr>
            <a:r>
              <a:rPr lang="en-US" sz="900" dirty="0">
                <a:solidFill>
                  <a:srgbClr val="A0B8C9"/>
                </a:solidFill>
                <a:latin typeface="Arial" pitchFamily="34" charset="0"/>
                <a:ea typeface="Arial" pitchFamily="34" charset="-122"/>
                <a:cs typeface="Arial" pitchFamily="34" charset="-120"/>
              </a:rPr>
              <a:t>SEVERE CONVECTIVE RADAR INTELLIGENCE  /  ENGINEERING CASE STUDY</a:t>
            </a:r>
            <a:endParaRPr lang="en-US" sz="900" dirty="0"/>
          </a:p>
        </p:txBody>
      </p:sp>
      <p:sp>
        <p:nvSpPr>
          <p:cNvPr id="8" name="Text 6"/>
          <p:cNvSpPr/>
          <p:nvPr/>
        </p:nvSpPr>
        <p:spPr>
          <a:xfrm>
            <a:off x="13350240" y="7818120"/>
            <a:ext cx="731520" cy="274320"/>
          </a:xfrm>
          <a:prstGeom prst="rect">
            <a:avLst/>
          </a:prstGeom>
          <a:noFill/>
          <a:ln/>
        </p:spPr>
        <p:txBody>
          <a:bodyPr wrap="square" lIns="0" tIns="0" rIns="0" bIns="0" rtlCol="0" anchor="t"/>
          <a:lstStyle/>
          <a:p>
            <a:pPr indent="0" marL="0">
              <a:buNone/>
            </a:pPr>
            <a:r>
              <a:rPr lang="en-US" sz="1100" b="1" dirty="0">
                <a:solidFill>
                  <a:srgbClr val="52D9EE"/>
                </a:solidFill>
                <a:latin typeface="Arial" pitchFamily="34" charset="0"/>
                <a:ea typeface="Arial" pitchFamily="34" charset="-122"/>
                <a:cs typeface="Arial" pitchFamily="34" charset="-120"/>
              </a:rPr>
              <a:t>04 / 08</a:t>
            </a:r>
            <a:endParaRPr lang="en-US" sz="1100" dirty="0"/>
          </a:p>
        </p:txBody>
      </p:sp>
      <p:sp>
        <p:nvSpPr>
          <p:cNvPr id="9" name="Shape 7"/>
          <p:cNvSpPr/>
          <p:nvPr/>
        </p:nvSpPr>
        <p:spPr>
          <a:xfrm>
            <a:off x="594360" y="2743200"/>
            <a:ext cx="4315968" cy="3063240"/>
          </a:xfrm>
          <a:prstGeom prst="rect">
            <a:avLst/>
          </a:prstGeom>
          <a:solidFill>
            <a:srgbClr val="102536"/>
          </a:solidFill>
          <a:ln w="12700">
            <a:solidFill>
              <a:srgbClr val="102536">
                <a:alpha val="0"/>
              </a:srgbClr>
            </a:solidFill>
            <a:prstDash val="solid"/>
          </a:ln>
        </p:spPr>
      </p:sp>
      <p:sp>
        <p:nvSpPr>
          <p:cNvPr id="10" name="Shape 8"/>
          <p:cNvSpPr/>
          <p:nvPr/>
        </p:nvSpPr>
        <p:spPr>
          <a:xfrm>
            <a:off x="594360" y="2743200"/>
            <a:ext cx="41148" cy="3063240"/>
          </a:xfrm>
          <a:prstGeom prst="rect">
            <a:avLst/>
          </a:prstGeom>
          <a:solidFill>
            <a:srgbClr val="52D9EE"/>
          </a:solidFill>
          <a:ln w="12700">
            <a:solidFill>
              <a:srgbClr val="52D9EE">
                <a:alpha val="0"/>
              </a:srgbClr>
            </a:solidFill>
            <a:prstDash val="solid"/>
          </a:ln>
        </p:spPr>
      </p:sp>
      <p:sp>
        <p:nvSpPr>
          <p:cNvPr id="11" name="Text 9"/>
          <p:cNvSpPr/>
          <p:nvPr/>
        </p:nvSpPr>
        <p:spPr>
          <a:xfrm>
            <a:off x="822960" y="2962656"/>
            <a:ext cx="3858768" cy="594360"/>
          </a:xfrm>
          <a:prstGeom prst="rect">
            <a:avLst/>
          </a:prstGeom>
          <a:noFill/>
          <a:ln/>
        </p:spPr>
        <p:txBody>
          <a:bodyPr wrap="square" lIns="0" tIns="0" rIns="0" bIns="0" rtlCol="0" anchor="t"/>
          <a:lstStyle/>
          <a:p>
            <a:pPr indent="0" marL="0">
              <a:buNone/>
            </a:pPr>
            <a:r>
              <a:rPr lang="en-US" sz="2300" b="1" dirty="0">
                <a:solidFill>
                  <a:srgbClr val="52D9EE"/>
                </a:solidFill>
                <a:latin typeface="Arial" pitchFamily="34" charset="0"/>
                <a:ea typeface="Arial" pitchFamily="34" charset="-122"/>
                <a:cs typeface="Arial" pitchFamily="34" charset="-120"/>
              </a:rPr>
              <a:t>01  SOURCE</a:t>
            </a:r>
            <a:endParaRPr lang="en-US" sz="2300" dirty="0"/>
          </a:p>
        </p:txBody>
      </p:sp>
      <p:sp>
        <p:nvSpPr>
          <p:cNvPr id="12" name="Text 10"/>
          <p:cNvSpPr/>
          <p:nvPr/>
        </p:nvSpPr>
        <p:spPr>
          <a:xfrm>
            <a:off x="822960" y="3675888"/>
            <a:ext cx="3858768" cy="2011680"/>
          </a:xfrm>
          <a:prstGeom prst="rect">
            <a:avLst/>
          </a:prstGeom>
          <a:noFill/>
          <a:ln/>
        </p:spPr>
        <p:txBody>
          <a:bodyPr wrap="square" lIns="0" tIns="0" rIns="0" bIns="0" rtlCol="0" anchor="t"/>
          <a:lstStyle/>
          <a:p>
            <a:pPr indent="0" marL="0">
              <a:buNone/>
            </a:pPr>
            <a:r>
              <a:rPr lang="en-US" sz="1900" dirty="0">
                <a:solidFill>
                  <a:srgbClr val="F1F6FA"/>
                </a:solidFill>
                <a:latin typeface="Arial" pitchFamily="34" charset="0"/>
                <a:ea typeface="Arial" pitchFamily="34" charset="-122"/>
                <a:cs typeface="Arial" pitchFamily="34" charset="-120"/>
              </a:rPr>
              <a:t>Preserve originals</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SHA-256 checksums</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Metadata inventory</a:t>
            </a:r>
            <a:endParaRPr lang="en-US" sz="1900" dirty="0"/>
          </a:p>
        </p:txBody>
      </p:sp>
      <p:sp>
        <p:nvSpPr>
          <p:cNvPr id="13" name="Shape 11"/>
          <p:cNvSpPr/>
          <p:nvPr/>
        </p:nvSpPr>
        <p:spPr>
          <a:xfrm>
            <a:off x="5148072" y="2743200"/>
            <a:ext cx="4315968" cy="3063240"/>
          </a:xfrm>
          <a:prstGeom prst="rect">
            <a:avLst/>
          </a:prstGeom>
          <a:solidFill>
            <a:srgbClr val="102536"/>
          </a:solidFill>
          <a:ln w="12700">
            <a:solidFill>
              <a:srgbClr val="102536">
                <a:alpha val="0"/>
              </a:srgbClr>
            </a:solidFill>
            <a:prstDash val="solid"/>
          </a:ln>
        </p:spPr>
      </p:sp>
      <p:sp>
        <p:nvSpPr>
          <p:cNvPr id="14" name="Shape 12"/>
          <p:cNvSpPr/>
          <p:nvPr/>
        </p:nvSpPr>
        <p:spPr>
          <a:xfrm>
            <a:off x="5148072" y="2743200"/>
            <a:ext cx="41148" cy="3063240"/>
          </a:xfrm>
          <a:prstGeom prst="rect">
            <a:avLst/>
          </a:prstGeom>
          <a:solidFill>
            <a:srgbClr val="52D9EE"/>
          </a:solidFill>
          <a:ln w="12700">
            <a:solidFill>
              <a:srgbClr val="52D9EE">
                <a:alpha val="0"/>
              </a:srgbClr>
            </a:solidFill>
            <a:prstDash val="solid"/>
          </a:ln>
        </p:spPr>
      </p:sp>
      <p:sp>
        <p:nvSpPr>
          <p:cNvPr id="15" name="Text 13"/>
          <p:cNvSpPr/>
          <p:nvPr/>
        </p:nvSpPr>
        <p:spPr>
          <a:xfrm>
            <a:off x="5376672" y="2962656"/>
            <a:ext cx="3858768" cy="594360"/>
          </a:xfrm>
          <a:prstGeom prst="rect">
            <a:avLst/>
          </a:prstGeom>
          <a:noFill/>
          <a:ln/>
        </p:spPr>
        <p:txBody>
          <a:bodyPr wrap="square" lIns="0" tIns="0" rIns="0" bIns="0" rtlCol="0" anchor="t"/>
          <a:lstStyle/>
          <a:p>
            <a:pPr indent="0" marL="0">
              <a:buNone/>
            </a:pPr>
            <a:r>
              <a:rPr lang="en-US" sz="2300" b="1" dirty="0">
                <a:solidFill>
                  <a:srgbClr val="52D9EE"/>
                </a:solidFill>
                <a:latin typeface="Arial" pitchFamily="34" charset="0"/>
                <a:ea typeface="Arial" pitchFamily="34" charset="-122"/>
                <a:cs typeface="Arial" pitchFamily="34" charset="-120"/>
              </a:rPr>
              <a:t>02  SCIENCE</a:t>
            </a:r>
            <a:endParaRPr lang="en-US" sz="2300" dirty="0"/>
          </a:p>
        </p:txBody>
      </p:sp>
      <p:sp>
        <p:nvSpPr>
          <p:cNvPr id="16" name="Text 14"/>
          <p:cNvSpPr/>
          <p:nvPr/>
        </p:nvSpPr>
        <p:spPr>
          <a:xfrm>
            <a:off x="5376672" y="3675888"/>
            <a:ext cx="3858768" cy="2011680"/>
          </a:xfrm>
          <a:prstGeom prst="rect">
            <a:avLst/>
          </a:prstGeom>
          <a:noFill/>
          <a:ln/>
        </p:spPr>
        <p:txBody>
          <a:bodyPr wrap="square" lIns="0" tIns="0" rIns="0" bIns="0" rtlCol="0" anchor="t"/>
          <a:lstStyle/>
          <a:p>
            <a:pPr indent="0" marL="0">
              <a:buNone/>
            </a:pPr>
            <a:r>
              <a:rPr lang="en-US" sz="1900" dirty="0">
                <a:solidFill>
                  <a:srgbClr val="F1F6FA"/>
                </a:solidFill>
                <a:latin typeface="Arial" pitchFamily="34" charset="0"/>
                <a:ea typeface="Arial" pitchFamily="34" charset="-122"/>
                <a:cs typeface="Arial" pitchFamily="34" charset="-120"/>
              </a:rPr>
              <a:t>Dimensions and units</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Coverage masks</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Geometry checks</a:t>
            </a:r>
            <a:endParaRPr lang="en-US" sz="1900" dirty="0"/>
          </a:p>
        </p:txBody>
      </p:sp>
      <p:sp>
        <p:nvSpPr>
          <p:cNvPr id="17" name="Shape 15"/>
          <p:cNvSpPr/>
          <p:nvPr/>
        </p:nvSpPr>
        <p:spPr>
          <a:xfrm>
            <a:off x="9701784" y="2743200"/>
            <a:ext cx="4315968" cy="3063240"/>
          </a:xfrm>
          <a:prstGeom prst="rect">
            <a:avLst/>
          </a:prstGeom>
          <a:solidFill>
            <a:srgbClr val="102536"/>
          </a:solidFill>
          <a:ln w="12700">
            <a:solidFill>
              <a:srgbClr val="102536">
                <a:alpha val="0"/>
              </a:srgbClr>
            </a:solidFill>
            <a:prstDash val="solid"/>
          </a:ln>
        </p:spPr>
      </p:sp>
      <p:sp>
        <p:nvSpPr>
          <p:cNvPr id="18" name="Shape 16"/>
          <p:cNvSpPr/>
          <p:nvPr/>
        </p:nvSpPr>
        <p:spPr>
          <a:xfrm>
            <a:off x="9701784" y="2743200"/>
            <a:ext cx="41148" cy="3063240"/>
          </a:xfrm>
          <a:prstGeom prst="rect">
            <a:avLst/>
          </a:prstGeom>
          <a:solidFill>
            <a:srgbClr val="52D9EE"/>
          </a:solidFill>
          <a:ln w="12700">
            <a:solidFill>
              <a:srgbClr val="52D9EE">
                <a:alpha val="0"/>
              </a:srgbClr>
            </a:solidFill>
            <a:prstDash val="solid"/>
          </a:ln>
        </p:spPr>
      </p:sp>
      <p:sp>
        <p:nvSpPr>
          <p:cNvPr id="19" name="Text 17"/>
          <p:cNvSpPr/>
          <p:nvPr/>
        </p:nvSpPr>
        <p:spPr>
          <a:xfrm>
            <a:off x="9930384" y="2962656"/>
            <a:ext cx="3858768" cy="594360"/>
          </a:xfrm>
          <a:prstGeom prst="rect">
            <a:avLst/>
          </a:prstGeom>
          <a:noFill/>
          <a:ln/>
        </p:spPr>
        <p:txBody>
          <a:bodyPr wrap="square" lIns="0" tIns="0" rIns="0" bIns="0" rtlCol="0" anchor="t"/>
          <a:lstStyle/>
          <a:p>
            <a:pPr indent="0" marL="0">
              <a:buNone/>
            </a:pPr>
            <a:r>
              <a:rPr lang="en-US" sz="2300" b="1" dirty="0">
                <a:solidFill>
                  <a:srgbClr val="52D9EE"/>
                </a:solidFill>
                <a:latin typeface="Arial" pitchFamily="34" charset="0"/>
                <a:ea typeface="Arial" pitchFamily="34" charset="-122"/>
                <a:cs typeface="Arial" pitchFamily="34" charset="-120"/>
              </a:rPr>
              <a:t>03  DELIVERY</a:t>
            </a:r>
            <a:endParaRPr lang="en-US" sz="2300" dirty="0"/>
          </a:p>
        </p:txBody>
      </p:sp>
      <p:sp>
        <p:nvSpPr>
          <p:cNvPr id="20" name="Text 18"/>
          <p:cNvSpPr/>
          <p:nvPr/>
        </p:nvSpPr>
        <p:spPr>
          <a:xfrm>
            <a:off x="9930384" y="3675888"/>
            <a:ext cx="3858768" cy="2011680"/>
          </a:xfrm>
          <a:prstGeom prst="rect">
            <a:avLst/>
          </a:prstGeom>
          <a:noFill/>
          <a:ln/>
        </p:spPr>
        <p:txBody>
          <a:bodyPr wrap="square" lIns="0" tIns="0" rIns="0" bIns="0" rtlCol="0" anchor="t"/>
          <a:lstStyle/>
          <a:p>
            <a:pPr indent="0" marL="0">
              <a:buNone/>
            </a:pPr>
            <a:r>
              <a:rPr lang="en-US" sz="1900" dirty="0">
                <a:solidFill>
                  <a:srgbClr val="F1F6FA"/>
                </a:solidFill>
                <a:latin typeface="Arial" pitchFamily="34" charset="0"/>
                <a:ea typeface="Arial" pitchFamily="34" charset="-122"/>
                <a:cs typeface="Arial" pitchFamily="34" charset="-120"/>
              </a:rPr>
              <a:t>Timestamp alignment</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Explicit missing scans</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Traceable outputs</a:t>
            </a:r>
            <a:endParaRPr lang="en-US" sz="1900" dirty="0"/>
          </a:p>
        </p:txBody>
      </p:sp>
      <p:sp>
        <p:nvSpPr>
          <p:cNvPr id="21" name="Shape 19"/>
          <p:cNvSpPr/>
          <p:nvPr/>
        </p:nvSpPr>
        <p:spPr>
          <a:xfrm>
            <a:off x="594360" y="6199632"/>
            <a:ext cx="13423392" cy="960120"/>
          </a:xfrm>
          <a:prstGeom prst="rect">
            <a:avLst/>
          </a:prstGeom>
          <a:solidFill>
            <a:srgbClr val="143443"/>
          </a:solidFill>
          <a:ln w="12700">
            <a:solidFill>
              <a:srgbClr val="143443">
                <a:alpha val="0"/>
              </a:srgbClr>
            </a:solidFill>
            <a:prstDash val="solid"/>
          </a:ln>
        </p:spPr>
      </p:sp>
      <p:sp>
        <p:nvSpPr>
          <p:cNvPr id="22" name="Text 20"/>
          <p:cNvSpPr/>
          <p:nvPr/>
        </p:nvSpPr>
        <p:spPr>
          <a:xfrm>
            <a:off x="868680" y="6446520"/>
            <a:ext cx="12801600" cy="502920"/>
          </a:xfrm>
          <a:prstGeom prst="rect">
            <a:avLst/>
          </a:prstGeom>
          <a:noFill/>
          <a:ln/>
        </p:spPr>
        <p:txBody>
          <a:bodyPr wrap="square" lIns="0" tIns="0" rIns="0" bIns="0" rtlCol="0" anchor="t"/>
          <a:lstStyle/>
          <a:p>
            <a:pPr indent="0" marL="0">
              <a:buNone/>
            </a:pPr>
            <a:r>
              <a:rPr lang="en-US" sz="2300" b="1" dirty="0">
                <a:solidFill>
                  <a:srgbClr val="52D9EE"/>
                </a:solidFill>
                <a:latin typeface="Arial" pitchFamily="34" charset="0"/>
                <a:ea typeface="Arial" pitchFamily="34" charset="-122"/>
                <a:cs typeface="Arial" pitchFamily="34" charset="-120"/>
              </a:rPr>
              <a:t>A successful pipeline run is only useful when its outputs are credible.</a:t>
            </a:r>
            <a:endParaRPr lang="en-US" sz="2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31F"/>
        </a:solidFill>
      </p:bgPr>
    </p:bg>
    <p:spTree>
      <p:nvGrpSpPr>
        <p:cNvPr id="1" name=""/>
        <p:cNvGrpSpPr/>
        <p:nvPr/>
      </p:nvGrpSpPr>
      <p:grpSpPr>
        <a:xfrm>
          <a:off x="0" y="0"/>
          <a:ext cx="0" cy="0"/>
          <a:chOff x="0" y="0"/>
          <a:chExt cx="0" cy="0"/>
        </a:xfrm>
      </p:grpSpPr>
      <p:sp>
        <p:nvSpPr>
          <p:cNvPr id="2" name="Shape 0"/>
          <p:cNvSpPr/>
          <p:nvPr/>
        </p:nvSpPr>
        <p:spPr>
          <a:xfrm>
            <a:off x="594360" y="502920"/>
            <a:ext cx="384048" cy="50292"/>
          </a:xfrm>
          <a:prstGeom prst="rect">
            <a:avLst/>
          </a:prstGeom>
          <a:solidFill>
            <a:srgbClr val="52D9EE"/>
          </a:solidFill>
          <a:ln w="12700">
            <a:solidFill>
              <a:srgbClr val="52D9EE">
                <a:alpha val="0"/>
              </a:srgbClr>
            </a:solidFill>
            <a:prstDash val="solid"/>
          </a:ln>
        </p:spPr>
      </p:sp>
      <p:sp>
        <p:nvSpPr>
          <p:cNvPr id="3" name="Text 1"/>
          <p:cNvSpPr/>
          <p:nvPr/>
        </p:nvSpPr>
        <p:spPr>
          <a:xfrm>
            <a:off x="1115568" y="393192"/>
            <a:ext cx="11887200" cy="320040"/>
          </a:xfrm>
          <a:prstGeom prst="rect">
            <a:avLst/>
          </a:prstGeom>
          <a:noFill/>
          <a:ln/>
        </p:spPr>
        <p:txBody>
          <a:bodyPr wrap="square" lIns="0" tIns="0" rIns="0" bIns="0" rtlCol="0" anchor="t"/>
          <a:lstStyle/>
          <a:p>
            <a:pPr indent="0" marL="0">
              <a:buNone/>
            </a:pPr>
            <a:r>
              <a:rPr lang="en-US" sz="1200" b="1" dirty="0">
                <a:solidFill>
                  <a:srgbClr val="52D9EE"/>
                </a:solidFill>
                <a:latin typeface="Arial" pitchFamily="34" charset="0"/>
                <a:ea typeface="Arial" pitchFamily="34" charset="-122"/>
                <a:cs typeface="Arial" pitchFamily="34" charset="-120"/>
              </a:rPr>
              <a:t>05 / DETECTION AND TRACKING</a:t>
            </a:r>
            <a:endParaRPr lang="en-US" sz="1200" dirty="0"/>
          </a:p>
        </p:txBody>
      </p:sp>
      <p:sp>
        <p:nvSpPr>
          <p:cNvPr id="4" name="Text 2"/>
          <p:cNvSpPr/>
          <p:nvPr/>
        </p:nvSpPr>
        <p:spPr>
          <a:xfrm>
            <a:off x="594360" y="960120"/>
            <a:ext cx="13441680" cy="1005840"/>
          </a:xfrm>
          <a:prstGeom prst="rect">
            <a:avLst/>
          </a:prstGeom>
          <a:noFill/>
          <a:ln/>
        </p:spPr>
        <p:txBody>
          <a:bodyPr wrap="square" lIns="0" tIns="0" rIns="0" bIns="0" rtlCol="0" anchor="t"/>
          <a:lstStyle/>
          <a:p>
            <a:pPr indent="0" marL="0">
              <a:buNone/>
            </a:pPr>
            <a:r>
              <a:rPr lang="en-US" sz="3400" b="1" dirty="0">
                <a:solidFill>
                  <a:srgbClr val="F1F6FA"/>
                </a:solidFill>
                <a:latin typeface="Arial" pitchFamily="34" charset="0"/>
                <a:ea typeface="Arial" pitchFamily="34" charset="-122"/>
                <a:cs typeface="Arial" pitchFamily="34" charset="-120"/>
              </a:rPr>
              <a:t>From reflectivity pixels to persistent cells</a:t>
            </a:r>
            <a:endParaRPr lang="en-US" sz="3400" dirty="0"/>
          </a:p>
        </p:txBody>
      </p:sp>
      <p:sp>
        <p:nvSpPr>
          <p:cNvPr id="5" name="Text 3"/>
          <p:cNvSpPr/>
          <p:nvPr/>
        </p:nvSpPr>
        <p:spPr>
          <a:xfrm>
            <a:off x="594360" y="1847088"/>
            <a:ext cx="13441680" cy="640080"/>
          </a:xfrm>
          <a:prstGeom prst="rect">
            <a:avLst/>
          </a:prstGeom>
          <a:noFill/>
          <a:ln/>
        </p:spPr>
        <p:txBody>
          <a:bodyPr wrap="square" lIns="0" tIns="0" rIns="0" bIns="0" rtlCol="0" anchor="t"/>
          <a:lstStyle/>
          <a:p>
            <a:pPr indent="0" marL="0">
              <a:buNone/>
            </a:pPr>
            <a:r>
              <a:rPr lang="en-US" sz="1800" dirty="0">
                <a:solidFill>
                  <a:srgbClr val="A0B8C9"/>
                </a:solidFill>
                <a:latin typeface="Arial" pitchFamily="34" charset="0"/>
                <a:ea typeface="Arial" pitchFamily="34" charset="-122"/>
                <a:cs typeface="Arial" pitchFamily="34" charset="-120"/>
              </a:rPr>
              <a:t>Cell boundaries come from connected CAPPI pixels; tracks associate objects between scans.</a:t>
            </a:r>
            <a:endParaRPr lang="en-US" sz="1800" dirty="0"/>
          </a:p>
        </p:txBody>
      </p:sp>
      <p:sp>
        <p:nvSpPr>
          <p:cNvPr id="6" name="Shape 4"/>
          <p:cNvSpPr/>
          <p:nvPr/>
        </p:nvSpPr>
        <p:spPr>
          <a:xfrm>
            <a:off x="594360" y="7708392"/>
            <a:ext cx="13441680" cy="13716"/>
          </a:xfrm>
          <a:prstGeom prst="rect">
            <a:avLst/>
          </a:prstGeom>
          <a:solidFill>
            <a:srgbClr val="254354"/>
          </a:solidFill>
          <a:ln w="12700">
            <a:solidFill>
              <a:srgbClr val="254354">
                <a:alpha val="0"/>
              </a:srgbClr>
            </a:solidFill>
            <a:prstDash val="solid"/>
          </a:ln>
        </p:spPr>
      </p:sp>
      <p:sp>
        <p:nvSpPr>
          <p:cNvPr id="7" name="Text 5"/>
          <p:cNvSpPr/>
          <p:nvPr/>
        </p:nvSpPr>
        <p:spPr>
          <a:xfrm>
            <a:off x="594360" y="7845552"/>
            <a:ext cx="11887200" cy="228600"/>
          </a:xfrm>
          <a:prstGeom prst="rect">
            <a:avLst/>
          </a:prstGeom>
          <a:noFill/>
          <a:ln/>
        </p:spPr>
        <p:txBody>
          <a:bodyPr wrap="square" lIns="0" tIns="0" rIns="0" bIns="0" rtlCol="0" anchor="t"/>
          <a:lstStyle/>
          <a:p>
            <a:pPr indent="0" marL="0">
              <a:buNone/>
            </a:pPr>
            <a:r>
              <a:rPr lang="en-US" sz="900" dirty="0">
                <a:solidFill>
                  <a:srgbClr val="A0B8C9"/>
                </a:solidFill>
                <a:latin typeface="Arial" pitchFamily="34" charset="0"/>
                <a:ea typeface="Arial" pitchFamily="34" charset="-122"/>
                <a:cs typeface="Arial" pitchFamily="34" charset="-120"/>
              </a:rPr>
              <a:t>SEVERE CONVECTIVE RADAR INTELLIGENCE  /  ENGINEERING CASE STUDY</a:t>
            </a:r>
            <a:endParaRPr lang="en-US" sz="900" dirty="0"/>
          </a:p>
        </p:txBody>
      </p:sp>
      <p:sp>
        <p:nvSpPr>
          <p:cNvPr id="8" name="Text 6"/>
          <p:cNvSpPr/>
          <p:nvPr/>
        </p:nvSpPr>
        <p:spPr>
          <a:xfrm>
            <a:off x="13350240" y="7818120"/>
            <a:ext cx="731520" cy="274320"/>
          </a:xfrm>
          <a:prstGeom prst="rect">
            <a:avLst/>
          </a:prstGeom>
          <a:noFill/>
          <a:ln/>
        </p:spPr>
        <p:txBody>
          <a:bodyPr wrap="square" lIns="0" tIns="0" rIns="0" bIns="0" rtlCol="0" anchor="t"/>
          <a:lstStyle/>
          <a:p>
            <a:pPr indent="0" marL="0">
              <a:buNone/>
            </a:pPr>
            <a:r>
              <a:rPr lang="en-US" sz="1100" b="1" dirty="0">
                <a:solidFill>
                  <a:srgbClr val="52D9EE"/>
                </a:solidFill>
                <a:latin typeface="Arial" pitchFamily="34" charset="0"/>
                <a:ea typeface="Arial" pitchFamily="34" charset="-122"/>
                <a:cs typeface="Arial" pitchFamily="34" charset="-120"/>
              </a:rPr>
              <a:t>05 / 08</a:t>
            </a:r>
            <a:endParaRPr lang="en-US" sz="1100" dirty="0"/>
          </a:p>
        </p:txBody>
      </p:sp>
      <p:sp>
        <p:nvSpPr>
          <p:cNvPr id="9" name="Shape 7"/>
          <p:cNvSpPr/>
          <p:nvPr/>
        </p:nvSpPr>
        <p:spPr>
          <a:xfrm>
            <a:off x="594360" y="2743200"/>
            <a:ext cx="4315968" cy="2926080"/>
          </a:xfrm>
          <a:prstGeom prst="rect">
            <a:avLst/>
          </a:prstGeom>
          <a:solidFill>
            <a:srgbClr val="102536"/>
          </a:solidFill>
          <a:ln w="12700">
            <a:solidFill>
              <a:srgbClr val="102536">
                <a:alpha val="0"/>
              </a:srgbClr>
            </a:solidFill>
            <a:prstDash val="solid"/>
          </a:ln>
        </p:spPr>
      </p:sp>
      <p:sp>
        <p:nvSpPr>
          <p:cNvPr id="10" name="Shape 8"/>
          <p:cNvSpPr/>
          <p:nvPr/>
        </p:nvSpPr>
        <p:spPr>
          <a:xfrm>
            <a:off x="594360" y="2743200"/>
            <a:ext cx="41148" cy="2926080"/>
          </a:xfrm>
          <a:prstGeom prst="rect">
            <a:avLst/>
          </a:prstGeom>
          <a:solidFill>
            <a:srgbClr val="52D9EE"/>
          </a:solidFill>
          <a:ln w="12700">
            <a:solidFill>
              <a:srgbClr val="52D9EE">
                <a:alpha val="0"/>
              </a:srgbClr>
            </a:solidFill>
            <a:prstDash val="solid"/>
          </a:ln>
        </p:spPr>
      </p:sp>
      <p:sp>
        <p:nvSpPr>
          <p:cNvPr id="11" name="Text 9"/>
          <p:cNvSpPr/>
          <p:nvPr/>
        </p:nvSpPr>
        <p:spPr>
          <a:xfrm>
            <a:off x="822960" y="2962656"/>
            <a:ext cx="3858768" cy="594360"/>
          </a:xfrm>
          <a:prstGeom prst="rect">
            <a:avLst/>
          </a:prstGeom>
          <a:noFill/>
          <a:ln/>
        </p:spPr>
        <p:txBody>
          <a:bodyPr wrap="square" lIns="0" tIns="0" rIns="0" bIns="0" rtlCol="0" anchor="t"/>
          <a:lstStyle/>
          <a:p>
            <a:pPr indent="0" marL="0">
              <a:buNone/>
            </a:pPr>
            <a:r>
              <a:rPr lang="en-US" sz="2300" b="1" dirty="0">
                <a:solidFill>
                  <a:srgbClr val="52D9EE"/>
                </a:solidFill>
                <a:latin typeface="Arial" pitchFamily="34" charset="0"/>
                <a:ea typeface="Arial" pitchFamily="34" charset="-122"/>
                <a:cs typeface="Arial" pitchFamily="34" charset="-120"/>
              </a:rPr>
              <a:t>DETECT</a:t>
            </a:r>
            <a:endParaRPr lang="en-US" sz="2300" dirty="0"/>
          </a:p>
        </p:txBody>
      </p:sp>
      <p:sp>
        <p:nvSpPr>
          <p:cNvPr id="12" name="Text 10"/>
          <p:cNvSpPr/>
          <p:nvPr/>
        </p:nvSpPr>
        <p:spPr>
          <a:xfrm>
            <a:off x="822960" y="3675888"/>
            <a:ext cx="3858768" cy="1874520"/>
          </a:xfrm>
          <a:prstGeom prst="rect">
            <a:avLst/>
          </a:prstGeom>
          <a:noFill/>
          <a:ln/>
        </p:spPr>
        <p:txBody>
          <a:bodyPr wrap="square" lIns="0" tIns="0" rIns="0" bIns="0" rtlCol="0" anchor="t"/>
          <a:lstStyle/>
          <a:p>
            <a:pPr indent="0" marL="0">
              <a:buNone/>
            </a:pPr>
            <a:r>
              <a:rPr lang="en-US" sz="1900" dirty="0">
                <a:solidFill>
                  <a:srgbClr val="F1F6FA"/>
                </a:solidFill>
                <a:latin typeface="Arial" pitchFamily="34" charset="0"/>
                <a:ea typeface="Arial" pitchFamily="34" charset="-122"/>
                <a:cs typeface="Arial" pitchFamily="34" charset="-120"/>
              </a:rPr>
              <a:t>2 km altitude CAPPI (ASL)</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DBZH ≥40 dBZ</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Minimum area: 16 km²</a:t>
            </a:r>
            <a:endParaRPr lang="en-US" sz="1900" dirty="0"/>
          </a:p>
        </p:txBody>
      </p:sp>
      <p:sp>
        <p:nvSpPr>
          <p:cNvPr id="13" name="Shape 11"/>
          <p:cNvSpPr/>
          <p:nvPr/>
        </p:nvSpPr>
        <p:spPr>
          <a:xfrm>
            <a:off x="5148072" y="2743200"/>
            <a:ext cx="4315968" cy="2926080"/>
          </a:xfrm>
          <a:prstGeom prst="rect">
            <a:avLst/>
          </a:prstGeom>
          <a:solidFill>
            <a:srgbClr val="102536"/>
          </a:solidFill>
          <a:ln w="12700">
            <a:solidFill>
              <a:srgbClr val="102536">
                <a:alpha val="0"/>
              </a:srgbClr>
            </a:solidFill>
            <a:prstDash val="solid"/>
          </a:ln>
        </p:spPr>
      </p:sp>
      <p:sp>
        <p:nvSpPr>
          <p:cNvPr id="14" name="Shape 12"/>
          <p:cNvSpPr/>
          <p:nvPr/>
        </p:nvSpPr>
        <p:spPr>
          <a:xfrm>
            <a:off x="5148072" y="2743200"/>
            <a:ext cx="41148" cy="2926080"/>
          </a:xfrm>
          <a:prstGeom prst="rect">
            <a:avLst/>
          </a:prstGeom>
          <a:solidFill>
            <a:srgbClr val="52D9EE"/>
          </a:solidFill>
          <a:ln w="12700">
            <a:solidFill>
              <a:srgbClr val="52D9EE">
                <a:alpha val="0"/>
              </a:srgbClr>
            </a:solidFill>
            <a:prstDash val="solid"/>
          </a:ln>
        </p:spPr>
      </p:sp>
      <p:sp>
        <p:nvSpPr>
          <p:cNvPr id="15" name="Text 13"/>
          <p:cNvSpPr/>
          <p:nvPr/>
        </p:nvSpPr>
        <p:spPr>
          <a:xfrm>
            <a:off x="5376672" y="2962656"/>
            <a:ext cx="3858768" cy="594360"/>
          </a:xfrm>
          <a:prstGeom prst="rect">
            <a:avLst/>
          </a:prstGeom>
          <a:noFill/>
          <a:ln/>
        </p:spPr>
        <p:txBody>
          <a:bodyPr wrap="square" lIns="0" tIns="0" rIns="0" bIns="0" rtlCol="0" anchor="t"/>
          <a:lstStyle/>
          <a:p>
            <a:pPr indent="0" marL="0">
              <a:buNone/>
            </a:pPr>
            <a:r>
              <a:rPr lang="en-US" sz="2300" b="1" dirty="0">
                <a:solidFill>
                  <a:srgbClr val="52D9EE"/>
                </a:solidFill>
                <a:latin typeface="Arial" pitchFamily="34" charset="0"/>
                <a:ea typeface="Arial" pitchFamily="34" charset="-122"/>
                <a:cs typeface="Arial" pitchFamily="34" charset="-120"/>
              </a:rPr>
              <a:t>ASSOCIATE</a:t>
            </a:r>
            <a:endParaRPr lang="en-US" sz="2300" dirty="0"/>
          </a:p>
        </p:txBody>
      </p:sp>
      <p:sp>
        <p:nvSpPr>
          <p:cNvPr id="16" name="Text 14"/>
          <p:cNvSpPr/>
          <p:nvPr/>
        </p:nvSpPr>
        <p:spPr>
          <a:xfrm>
            <a:off x="5376672" y="3675888"/>
            <a:ext cx="3858768" cy="1874520"/>
          </a:xfrm>
          <a:prstGeom prst="rect">
            <a:avLst/>
          </a:prstGeom>
          <a:noFill/>
          <a:ln/>
        </p:spPr>
        <p:txBody>
          <a:bodyPr wrap="square" lIns="0" tIns="0" rIns="0" bIns="0" rtlCol="0" anchor="t"/>
          <a:lstStyle/>
          <a:p>
            <a:pPr indent="0" marL="0">
              <a:buNone/>
            </a:pPr>
            <a:r>
              <a:rPr lang="en-US" sz="1900" dirty="0">
                <a:solidFill>
                  <a:srgbClr val="F1F6FA"/>
                </a:solidFill>
                <a:latin typeface="Arial" pitchFamily="34" charset="0"/>
                <a:ea typeface="Arial" pitchFamily="34" charset="-122"/>
                <a:cs typeface="Arial" pitchFamily="34" charset="-120"/>
              </a:rPr>
              <a:t>Hungarian assignment</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Speed gate: ≤150 km/h</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Peak DBZH change: ≤25 dBZ</a:t>
            </a:r>
            <a:endParaRPr lang="en-US" sz="1900" dirty="0"/>
          </a:p>
        </p:txBody>
      </p:sp>
      <p:sp>
        <p:nvSpPr>
          <p:cNvPr id="17" name="Shape 15"/>
          <p:cNvSpPr/>
          <p:nvPr/>
        </p:nvSpPr>
        <p:spPr>
          <a:xfrm>
            <a:off x="9701784" y="2743200"/>
            <a:ext cx="4315968" cy="2926080"/>
          </a:xfrm>
          <a:prstGeom prst="rect">
            <a:avLst/>
          </a:prstGeom>
          <a:solidFill>
            <a:srgbClr val="102536"/>
          </a:solidFill>
          <a:ln w="12700">
            <a:solidFill>
              <a:srgbClr val="102536">
                <a:alpha val="0"/>
              </a:srgbClr>
            </a:solidFill>
            <a:prstDash val="solid"/>
          </a:ln>
        </p:spPr>
      </p:sp>
      <p:sp>
        <p:nvSpPr>
          <p:cNvPr id="18" name="Shape 16"/>
          <p:cNvSpPr/>
          <p:nvPr/>
        </p:nvSpPr>
        <p:spPr>
          <a:xfrm>
            <a:off x="9701784" y="2743200"/>
            <a:ext cx="41148" cy="2926080"/>
          </a:xfrm>
          <a:prstGeom prst="rect">
            <a:avLst/>
          </a:prstGeom>
          <a:solidFill>
            <a:srgbClr val="52D9EE"/>
          </a:solidFill>
          <a:ln w="12700">
            <a:solidFill>
              <a:srgbClr val="52D9EE">
                <a:alpha val="0"/>
              </a:srgbClr>
            </a:solidFill>
            <a:prstDash val="solid"/>
          </a:ln>
        </p:spPr>
      </p:sp>
      <p:sp>
        <p:nvSpPr>
          <p:cNvPr id="19" name="Text 17"/>
          <p:cNvSpPr/>
          <p:nvPr/>
        </p:nvSpPr>
        <p:spPr>
          <a:xfrm>
            <a:off x="9930384" y="2962656"/>
            <a:ext cx="3858768" cy="594360"/>
          </a:xfrm>
          <a:prstGeom prst="rect">
            <a:avLst/>
          </a:prstGeom>
          <a:noFill/>
          <a:ln/>
        </p:spPr>
        <p:txBody>
          <a:bodyPr wrap="square" lIns="0" tIns="0" rIns="0" bIns="0" rtlCol="0" anchor="t"/>
          <a:lstStyle/>
          <a:p>
            <a:pPr indent="0" marL="0">
              <a:buNone/>
            </a:pPr>
            <a:r>
              <a:rPr lang="en-US" sz="2300" b="1" dirty="0">
                <a:solidFill>
                  <a:srgbClr val="52D9EE"/>
                </a:solidFill>
                <a:latin typeface="Arial" pitchFamily="34" charset="0"/>
                <a:ea typeface="Arial" pitchFamily="34" charset="-122"/>
                <a:cs typeface="Arial" pitchFamily="34" charset="-120"/>
              </a:rPr>
              <a:t>DISPLAY</a:t>
            </a:r>
            <a:endParaRPr lang="en-US" sz="2300" dirty="0"/>
          </a:p>
        </p:txBody>
      </p:sp>
      <p:sp>
        <p:nvSpPr>
          <p:cNvPr id="20" name="Text 18"/>
          <p:cNvSpPr/>
          <p:nvPr/>
        </p:nvSpPr>
        <p:spPr>
          <a:xfrm>
            <a:off x="9930384" y="3675888"/>
            <a:ext cx="3858768" cy="1874520"/>
          </a:xfrm>
          <a:prstGeom prst="rect">
            <a:avLst/>
          </a:prstGeom>
          <a:noFill/>
          <a:ln/>
        </p:spPr>
        <p:txBody>
          <a:bodyPr wrap="square" lIns="0" tIns="0" rIns="0" bIns="0" rtlCol="0" anchor="t"/>
          <a:lstStyle/>
          <a:p>
            <a:pPr indent="0" marL="0">
              <a:buNone/>
            </a:pPr>
            <a:r>
              <a:rPr lang="en-US" sz="1900" dirty="0">
                <a:solidFill>
                  <a:srgbClr val="F1F6FA"/>
                </a:solidFill>
                <a:latin typeface="Arial" pitchFamily="34" charset="0"/>
                <a:ea typeface="Arial" pitchFamily="34" charset="-122"/>
                <a:cs typeface="Arial" pitchFamily="34" charset="-120"/>
              </a:rPr>
              <a:t>Cell perimeter + trajectory</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Active cells in each scan</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Recent history: 12 points</a:t>
            </a:r>
            <a:endParaRPr lang="en-US" sz="1900" dirty="0"/>
          </a:p>
        </p:txBody>
      </p:sp>
      <p:sp>
        <p:nvSpPr>
          <p:cNvPr id="21" name="Shape 19"/>
          <p:cNvSpPr/>
          <p:nvPr/>
        </p:nvSpPr>
        <p:spPr>
          <a:xfrm>
            <a:off x="594360" y="6053328"/>
            <a:ext cx="3191256" cy="594360"/>
          </a:xfrm>
          <a:prstGeom prst="rect">
            <a:avLst/>
          </a:prstGeom>
          <a:solidFill>
            <a:srgbClr val="FFE600"/>
          </a:solidFill>
          <a:ln w="12700">
            <a:solidFill>
              <a:srgbClr val="FFE600">
                <a:alpha val="0"/>
              </a:srgbClr>
            </a:solidFill>
            <a:prstDash val="solid"/>
          </a:ln>
        </p:spPr>
      </p:sp>
      <p:sp>
        <p:nvSpPr>
          <p:cNvPr id="22" name="Text 20"/>
          <p:cNvSpPr/>
          <p:nvPr/>
        </p:nvSpPr>
        <p:spPr>
          <a:xfrm>
            <a:off x="758952" y="6172200"/>
            <a:ext cx="2880360" cy="365760"/>
          </a:xfrm>
          <a:prstGeom prst="rect">
            <a:avLst/>
          </a:prstGeom>
          <a:noFill/>
          <a:ln/>
        </p:spPr>
        <p:txBody>
          <a:bodyPr wrap="square" lIns="0" tIns="0" rIns="0" bIns="0" rtlCol="0" anchor="t"/>
          <a:lstStyle/>
          <a:p>
            <a:pPr indent="0" marL="0">
              <a:buNone/>
            </a:pPr>
            <a:r>
              <a:rPr lang="en-US" sz="2000" b="1" dirty="0">
                <a:solidFill>
                  <a:srgbClr val="07131F"/>
                </a:solidFill>
                <a:latin typeface="Arial" pitchFamily="34" charset="0"/>
                <a:ea typeface="Arial" pitchFamily="34" charset="-122"/>
                <a:cs typeface="Arial" pitchFamily="34" charset="-120"/>
              </a:rPr>
              <a:t>40–&lt;45 dBZ</a:t>
            </a:r>
            <a:endParaRPr lang="en-US" sz="2000" dirty="0"/>
          </a:p>
        </p:txBody>
      </p:sp>
      <p:sp>
        <p:nvSpPr>
          <p:cNvPr id="23" name="Shape 21"/>
          <p:cNvSpPr/>
          <p:nvPr/>
        </p:nvSpPr>
        <p:spPr>
          <a:xfrm>
            <a:off x="3995928" y="6053328"/>
            <a:ext cx="3191256" cy="594360"/>
          </a:xfrm>
          <a:prstGeom prst="rect">
            <a:avLst/>
          </a:prstGeom>
          <a:solidFill>
            <a:srgbClr val="FF8C00"/>
          </a:solidFill>
          <a:ln w="12700">
            <a:solidFill>
              <a:srgbClr val="FF8C00">
                <a:alpha val="0"/>
              </a:srgbClr>
            </a:solidFill>
            <a:prstDash val="solid"/>
          </a:ln>
        </p:spPr>
      </p:sp>
      <p:sp>
        <p:nvSpPr>
          <p:cNvPr id="24" name="Text 22"/>
          <p:cNvSpPr/>
          <p:nvPr/>
        </p:nvSpPr>
        <p:spPr>
          <a:xfrm>
            <a:off x="4160520" y="6172200"/>
            <a:ext cx="2880360" cy="365760"/>
          </a:xfrm>
          <a:prstGeom prst="rect">
            <a:avLst/>
          </a:prstGeom>
          <a:noFill/>
          <a:ln/>
        </p:spPr>
        <p:txBody>
          <a:bodyPr wrap="square" lIns="0" tIns="0" rIns="0" bIns="0" rtlCol="0" anchor="t"/>
          <a:lstStyle/>
          <a:p>
            <a:pPr indent="0" marL="0">
              <a:buNone/>
            </a:pPr>
            <a:r>
              <a:rPr lang="en-US" sz="2000" b="1" dirty="0">
                <a:solidFill>
                  <a:srgbClr val="07131F"/>
                </a:solidFill>
                <a:latin typeface="Arial" pitchFamily="34" charset="0"/>
                <a:ea typeface="Arial" pitchFamily="34" charset="-122"/>
                <a:cs typeface="Arial" pitchFamily="34" charset="-120"/>
              </a:rPr>
              <a:t>45–&lt;55 dBZ</a:t>
            </a:r>
            <a:endParaRPr lang="en-US" sz="2000" dirty="0"/>
          </a:p>
        </p:txBody>
      </p:sp>
      <p:sp>
        <p:nvSpPr>
          <p:cNvPr id="25" name="Shape 23"/>
          <p:cNvSpPr/>
          <p:nvPr/>
        </p:nvSpPr>
        <p:spPr>
          <a:xfrm>
            <a:off x="7397496" y="6053328"/>
            <a:ext cx="3191256" cy="594360"/>
          </a:xfrm>
          <a:prstGeom prst="rect">
            <a:avLst/>
          </a:prstGeom>
          <a:solidFill>
            <a:srgbClr val="ED1C24"/>
          </a:solidFill>
          <a:ln w="12700">
            <a:solidFill>
              <a:srgbClr val="ED1C24">
                <a:alpha val="0"/>
              </a:srgbClr>
            </a:solidFill>
            <a:prstDash val="solid"/>
          </a:ln>
        </p:spPr>
      </p:sp>
      <p:sp>
        <p:nvSpPr>
          <p:cNvPr id="26" name="Text 24"/>
          <p:cNvSpPr/>
          <p:nvPr/>
        </p:nvSpPr>
        <p:spPr>
          <a:xfrm>
            <a:off x="7562088" y="6172200"/>
            <a:ext cx="2880360" cy="365760"/>
          </a:xfrm>
          <a:prstGeom prst="rect">
            <a:avLst/>
          </a:prstGeom>
          <a:noFill/>
          <a:ln/>
        </p:spPr>
        <p:txBody>
          <a:bodyPr wrap="square" lIns="0" tIns="0" rIns="0" bIns="0" rtlCol="0" anchor="t"/>
          <a:lstStyle/>
          <a:p>
            <a:pPr indent="0" marL="0">
              <a:buNone/>
            </a:pPr>
            <a:r>
              <a:rPr lang="en-US" sz="2000" b="1" dirty="0">
                <a:solidFill>
                  <a:srgbClr val="F1F6FA"/>
                </a:solidFill>
                <a:latin typeface="Arial" pitchFamily="34" charset="0"/>
                <a:ea typeface="Arial" pitchFamily="34" charset="-122"/>
                <a:cs typeface="Arial" pitchFamily="34" charset="-120"/>
              </a:rPr>
              <a:t>55–&lt;65 dBZ</a:t>
            </a:r>
            <a:endParaRPr lang="en-US" sz="2000" dirty="0"/>
          </a:p>
        </p:txBody>
      </p:sp>
      <p:sp>
        <p:nvSpPr>
          <p:cNvPr id="27" name="Shape 25"/>
          <p:cNvSpPr/>
          <p:nvPr/>
        </p:nvSpPr>
        <p:spPr>
          <a:xfrm>
            <a:off x="10799064" y="6053328"/>
            <a:ext cx="3191256" cy="594360"/>
          </a:xfrm>
          <a:prstGeom prst="rect">
            <a:avLst/>
          </a:prstGeom>
          <a:solidFill>
            <a:srgbClr val="9B59FF"/>
          </a:solidFill>
          <a:ln w="12700">
            <a:solidFill>
              <a:srgbClr val="9B59FF">
                <a:alpha val="0"/>
              </a:srgbClr>
            </a:solidFill>
            <a:prstDash val="solid"/>
          </a:ln>
        </p:spPr>
      </p:sp>
      <p:sp>
        <p:nvSpPr>
          <p:cNvPr id="28" name="Text 26"/>
          <p:cNvSpPr/>
          <p:nvPr/>
        </p:nvSpPr>
        <p:spPr>
          <a:xfrm>
            <a:off x="10963656" y="6172200"/>
            <a:ext cx="2880360" cy="365760"/>
          </a:xfrm>
          <a:prstGeom prst="rect">
            <a:avLst/>
          </a:prstGeom>
          <a:noFill/>
          <a:ln/>
        </p:spPr>
        <p:txBody>
          <a:bodyPr wrap="square" lIns="0" tIns="0" rIns="0" bIns="0" rtlCol="0" anchor="t"/>
          <a:lstStyle/>
          <a:p>
            <a:pPr indent="0" marL="0">
              <a:buNone/>
            </a:pPr>
            <a:r>
              <a:rPr lang="en-US" sz="2000" b="1" dirty="0">
                <a:solidFill>
                  <a:srgbClr val="F1F6FA"/>
                </a:solidFill>
                <a:latin typeface="Arial" pitchFamily="34" charset="0"/>
                <a:ea typeface="Arial" pitchFamily="34" charset="-122"/>
                <a:cs typeface="Arial" pitchFamily="34" charset="-120"/>
              </a:rPr>
              <a:t>≥65 dBZ</a:t>
            </a:r>
            <a:endParaRPr lang="en-US" sz="2000" dirty="0"/>
          </a:p>
        </p:txBody>
      </p:sp>
      <p:sp>
        <p:nvSpPr>
          <p:cNvPr id="29" name="Text 27"/>
          <p:cNvSpPr/>
          <p:nvPr/>
        </p:nvSpPr>
        <p:spPr>
          <a:xfrm>
            <a:off x="594360" y="6922008"/>
            <a:ext cx="12801600" cy="384048"/>
          </a:xfrm>
          <a:prstGeom prst="rect">
            <a:avLst/>
          </a:prstGeom>
          <a:noFill/>
          <a:ln/>
        </p:spPr>
        <p:txBody>
          <a:bodyPr wrap="square" lIns="0" tIns="0" rIns="0" bIns="0" rtlCol="0" anchor="t"/>
          <a:lstStyle/>
          <a:p>
            <a:pPr indent="0" marL="0">
              <a:buNone/>
            </a:pPr>
            <a:r>
              <a:rPr lang="en-US" sz="1700" dirty="0">
                <a:solidFill>
                  <a:srgbClr val="A0B8C9"/>
                </a:solidFill>
                <a:latin typeface="Arial" pitchFamily="34" charset="0"/>
                <a:ea typeface="Arial" pitchFamily="34" charset="-122"/>
                <a:cs typeface="Arial" pitchFamily="34" charset="-120"/>
              </a:rPr>
              <a:t>Reflectivity classes describe intensity; they do not confirm hail or tornadoes.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31F"/>
        </a:solidFill>
      </p:bgPr>
    </p:bg>
    <p:spTree>
      <p:nvGrpSpPr>
        <p:cNvPr id="1" name=""/>
        <p:cNvGrpSpPr/>
        <p:nvPr/>
      </p:nvGrpSpPr>
      <p:grpSpPr>
        <a:xfrm>
          <a:off x="0" y="0"/>
          <a:ext cx="0" cy="0"/>
          <a:chOff x="0" y="0"/>
          <a:chExt cx="0" cy="0"/>
        </a:xfrm>
      </p:grpSpPr>
      <p:sp>
        <p:nvSpPr>
          <p:cNvPr id="2" name="Shape 0"/>
          <p:cNvSpPr/>
          <p:nvPr/>
        </p:nvSpPr>
        <p:spPr>
          <a:xfrm>
            <a:off x="594360" y="502920"/>
            <a:ext cx="384048" cy="50292"/>
          </a:xfrm>
          <a:prstGeom prst="rect">
            <a:avLst/>
          </a:prstGeom>
          <a:solidFill>
            <a:srgbClr val="52D9EE"/>
          </a:solidFill>
          <a:ln w="12700">
            <a:solidFill>
              <a:srgbClr val="52D9EE">
                <a:alpha val="0"/>
              </a:srgbClr>
            </a:solidFill>
            <a:prstDash val="solid"/>
          </a:ln>
        </p:spPr>
      </p:sp>
      <p:sp>
        <p:nvSpPr>
          <p:cNvPr id="3" name="Text 1"/>
          <p:cNvSpPr/>
          <p:nvPr/>
        </p:nvSpPr>
        <p:spPr>
          <a:xfrm>
            <a:off x="1115568" y="393192"/>
            <a:ext cx="11887200" cy="320040"/>
          </a:xfrm>
          <a:prstGeom prst="rect">
            <a:avLst/>
          </a:prstGeom>
          <a:noFill/>
          <a:ln/>
        </p:spPr>
        <p:txBody>
          <a:bodyPr wrap="square" lIns="0" tIns="0" rIns="0" bIns="0" rtlCol="0" anchor="t"/>
          <a:lstStyle/>
          <a:p>
            <a:pPr indent="0" marL="0">
              <a:buNone/>
            </a:pPr>
            <a:r>
              <a:rPr lang="en-US" sz="1200" b="1" dirty="0">
                <a:solidFill>
                  <a:srgbClr val="52D9EE"/>
                </a:solidFill>
                <a:latin typeface="Arial" pitchFamily="34" charset="0"/>
                <a:ea typeface="Arial" pitchFamily="34" charset="-122"/>
                <a:cs typeface="Arial" pitchFamily="34" charset="-120"/>
              </a:rPr>
              <a:t>06 / THE INTERFACE</a:t>
            </a:r>
            <a:endParaRPr lang="en-US" sz="1200" dirty="0"/>
          </a:p>
        </p:txBody>
      </p:sp>
      <p:sp>
        <p:nvSpPr>
          <p:cNvPr id="4" name="Text 2"/>
          <p:cNvSpPr/>
          <p:nvPr/>
        </p:nvSpPr>
        <p:spPr>
          <a:xfrm>
            <a:off x="594360" y="960120"/>
            <a:ext cx="13441680" cy="1005840"/>
          </a:xfrm>
          <a:prstGeom prst="rect">
            <a:avLst/>
          </a:prstGeom>
          <a:noFill/>
          <a:ln/>
        </p:spPr>
        <p:txBody>
          <a:bodyPr wrap="square" lIns="0" tIns="0" rIns="0" bIns="0" rtlCol="0" anchor="t"/>
          <a:lstStyle/>
          <a:p>
            <a:pPr indent="0" marL="0">
              <a:buNone/>
            </a:pPr>
            <a:r>
              <a:rPr lang="en-US" sz="3400" b="1" dirty="0">
                <a:solidFill>
                  <a:srgbClr val="F1F6FA"/>
                </a:solidFill>
                <a:latin typeface="Arial" pitchFamily="34" charset="0"/>
                <a:ea typeface="Arial" pitchFamily="34" charset="-122"/>
                <a:cs typeface="Arial" pitchFamily="34" charset="-120"/>
              </a:rPr>
              <a:t>Inspect the storm, its shape and its history.</a:t>
            </a:r>
            <a:endParaRPr lang="en-US" sz="3400" dirty="0"/>
          </a:p>
        </p:txBody>
      </p:sp>
      <p:sp>
        <p:nvSpPr>
          <p:cNvPr id="5" name="Shape 3"/>
          <p:cNvSpPr/>
          <p:nvPr/>
        </p:nvSpPr>
        <p:spPr>
          <a:xfrm>
            <a:off x="594360" y="7708392"/>
            <a:ext cx="13441680" cy="13716"/>
          </a:xfrm>
          <a:prstGeom prst="rect">
            <a:avLst/>
          </a:prstGeom>
          <a:solidFill>
            <a:srgbClr val="254354"/>
          </a:solidFill>
          <a:ln w="12700">
            <a:solidFill>
              <a:srgbClr val="254354">
                <a:alpha val="0"/>
              </a:srgbClr>
            </a:solidFill>
            <a:prstDash val="solid"/>
          </a:ln>
        </p:spPr>
      </p:sp>
      <p:sp>
        <p:nvSpPr>
          <p:cNvPr id="6" name="Text 4"/>
          <p:cNvSpPr/>
          <p:nvPr/>
        </p:nvSpPr>
        <p:spPr>
          <a:xfrm>
            <a:off x="594360" y="7845552"/>
            <a:ext cx="11887200" cy="228600"/>
          </a:xfrm>
          <a:prstGeom prst="rect">
            <a:avLst/>
          </a:prstGeom>
          <a:noFill/>
          <a:ln/>
        </p:spPr>
        <p:txBody>
          <a:bodyPr wrap="square" lIns="0" tIns="0" rIns="0" bIns="0" rtlCol="0" anchor="t"/>
          <a:lstStyle/>
          <a:p>
            <a:pPr indent="0" marL="0">
              <a:buNone/>
            </a:pPr>
            <a:r>
              <a:rPr lang="en-US" sz="900" dirty="0">
                <a:solidFill>
                  <a:srgbClr val="A0B8C9"/>
                </a:solidFill>
                <a:latin typeface="Arial" pitchFamily="34" charset="0"/>
                <a:ea typeface="Arial" pitchFamily="34" charset="-122"/>
                <a:cs typeface="Arial" pitchFamily="34" charset="-120"/>
              </a:rPr>
              <a:t>SEVERE CONVECTIVE RADAR INTELLIGENCE  /  ENGINEERING CASE STUDY</a:t>
            </a:r>
            <a:endParaRPr lang="en-US" sz="900" dirty="0"/>
          </a:p>
        </p:txBody>
      </p:sp>
      <p:sp>
        <p:nvSpPr>
          <p:cNvPr id="7" name="Text 5"/>
          <p:cNvSpPr/>
          <p:nvPr/>
        </p:nvSpPr>
        <p:spPr>
          <a:xfrm>
            <a:off x="13350240" y="7818120"/>
            <a:ext cx="731520" cy="274320"/>
          </a:xfrm>
          <a:prstGeom prst="rect">
            <a:avLst/>
          </a:prstGeom>
          <a:noFill/>
          <a:ln/>
        </p:spPr>
        <p:txBody>
          <a:bodyPr wrap="square" lIns="0" tIns="0" rIns="0" bIns="0" rtlCol="0" anchor="t"/>
          <a:lstStyle/>
          <a:p>
            <a:pPr indent="0" marL="0">
              <a:buNone/>
            </a:pPr>
            <a:r>
              <a:rPr lang="en-US" sz="1100" b="1" dirty="0">
                <a:solidFill>
                  <a:srgbClr val="52D9EE"/>
                </a:solidFill>
                <a:latin typeface="Arial" pitchFamily="34" charset="0"/>
                <a:ea typeface="Arial" pitchFamily="34" charset="-122"/>
                <a:cs typeface="Arial" pitchFamily="34" charset="-120"/>
              </a:rPr>
              <a:t>06 / 08</a:t>
            </a:r>
            <a:endParaRPr lang="en-US" sz="11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2633472" y="1874520"/>
            <a:ext cx="9363456" cy="5266944"/>
          </a:xfrm>
          <a:prstGeom prst="rect">
            <a:avLst/>
          </a:prstGeom>
        </p:spPr>
      </p:pic>
      <p:sp>
        <p:nvSpPr>
          <p:cNvPr id="9" name="Text 6"/>
          <p:cNvSpPr/>
          <p:nvPr/>
        </p:nvSpPr>
        <p:spPr>
          <a:xfrm>
            <a:off x="2633472" y="7269480"/>
            <a:ext cx="9363456" cy="274320"/>
          </a:xfrm>
          <a:prstGeom prst="rect">
            <a:avLst/>
          </a:prstGeom>
          <a:noFill/>
          <a:ln/>
        </p:spPr>
        <p:txBody>
          <a:bodyPr wrap="square" lIns="0" tIns="0" rIns="0" bIns="0" rtlCol="0" anchor="ctr"/>
          <a:lstStyle/>
          <a:p>
            <a:pPr indent="0" marL="0">
              <a:buNone/>
            </a:pPr>
            <a:r>
              <a:rPr lang="en-US" sz="1200" dirty="0">
                <a:solidFill>
                  <a:srgbClr val="52D9EE"/>
                </a:solidFill>
              </a:rPr>
              <a:t>PLAY REPLAY  /  21:00–23:54 UTC  /  1.5×  /  ~35 seconds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31F"/>
        </a:solidFill>
      </p:bgPr>
    </p:bg>
    <p:spTree>
      <p:nvGrpSpPr>
        <p:cNvPr id="1" name=""/>
        <p:cNvGrpSpPr/>
        <p:nvPr/>
      </p:nvGrpSpPr>
      <p:grpSpPr>
        <a:xfrm>
          <a:off x="0" y="0"/>
          <a:ext cx="0" cy="0"/>
          <a:chOff x="0" y="0"/>
          <a:chExt cx="0" cy="0"/>
        </a:xfrm>
      </p:grpSpPr>
      <p:sp>
        <p:nvSpPr>
          <p:cNvPr id="2" name="Shape 0"/>
          <p:cNvSpPr/>
          <p:nvPr/>
        </p:nvSpPr>
        <p:spPr>
          <a:xfrm>
            <a:off x="594360" y="502920"/>
            <a:ext cx="384048" cy="50292"/>
          </a:xfrm>
          <a:prstGeom prst="rect">
            <a:avLst/>
          </a:prstGeom>
          <a:solidFill>
            <a:srgbClr val="52D9EE"/>
          </a:solidFill>
          <a:ln w="12700">
            <a:solidFill>
              <a:srgbClr val="52D9EE">
                <a:alpha val="0"/>
              </a:srgbClr>
            </a:solidFill>
            <a:prstDash val="solid"/>
          </a:ln>
        </p:spPr>
      </p:sp>
      <p:sp>
        <p:nvSpPr>
          <p:cNvPr id="3" name="Text 1"/>
          <p:cNvSpPr/>
          <p:nvPr/>
        </p:nvSpPr>
        <p:spPr>
          <a:xfrm>
            <a:off x="1115568" y="393192"/>
            <a:ext cx="11887200" cy="320040"/>
          </a:xfrm>
          <a:prstGeom prst="rect">
            <a:avLst/>
          </a:prstGeom>
          <a:noFill/>
          <a:ln/>
        </p:spPr>
        <p:txBody>
          <a:bodyPr wrap="square" lIns="0" tIns="0" rIns="0" bIns="0" rtlCol="0" anchor="t"/>
          <a:lstStyle/>
          <a:p>
            <a:pPr indent="0" marL="0">
              <a:buNone/>
            </a:pPr>
            <a:r>
              <a:rPr lang="en-US" sz="1200" b="1" dirty="0">
                <a:solidFill>
                  <a:srgbClr val="52D9EE"/>
                </a:solidFill>
                <a:latin typeface="Arial" pitchFamily="34" charset="0"/>
                <a:ea typeface="Arial" pitchFamily="34" charset="-122"/>
                <a:cs typeface="Arial" pitchFamily="34" charset="-120"/>
              </a:rPr>
              <a:t>07 / ARCHIVE RESULTS</a:t>
            </a:r>
            <a:endParaRPr lang="en-US" sz="1200" dirty="0"/>
          </a:p>
        </p:txBody>
      </p:sp>
      <p:sp>
        <p:nvSpPr>
          <p:cNvPr id="4" name="Text 2"/>
          <p:cNvSpPr/>
          <p:nvPr/>
        </p:nvSpPr>
        <p:spPr>
          <a:xfrm>
            <a:off x="594360" y="960120"/>
            <a:ext cx="13441680" cy="1005840"/>
          </a:xfrm>
          <a:prstGeom prst="rect">
            <a:avLst/>
          </a:prstGeom>
          <a:noFill/>
          <a:ln/>
        </p:spPr>
        <p:txBody>
          <a:bodyPr wrap="square" lIns="0" tIns="0" rIns="0" bIns="0" rtlCol="0" anchor="t"/>
          <a:lstStyle/>
          <a:p>
            <a:pPr indent="0" marL="0">
              <a:buNone/>
            </a:pPr>
            <a:r>
              <a:rPr lang="en-US" sz="3400" b="1" dirty="0">
                <a:solidFill>
                  <a:srgbClr val="F1F6FA"/>
                </a:solidFill>
                <a:latin typeface="Arial" pitchFamily="34" charset="0"/>
                <a:ea typeface="Arial" pitchFamily="34" charset="-122"/>
                <a:cs typeface="Arial" pitchFamily="34" charset="-120"/>
              </a:rPr>
              <a:t>A complete run makes coverage visible.</a:t>
            </a:r>
            <a:endParaRPr lang="en-US" sz="3400" dirty="0"/>
          </a:p>
        </p:txBody>
      </p:sp>
      <p:sp>
        <p:nvSpPr>
          <p:cNvPr id="5" name="Text 3"/>
          <p:cNvSpPr/>
          <p:nvPr/>
        </p:nvSpPr>
        <p:spPr>
          <a:xfrm>
            <a:off x="594360" y="1847088"/>
            <a:ext cx="13441680" cy="640080"/>
          </a:xfrm>
          <a:prstGeom prst="rect">
            <a:avLst/>
          </a:prstGeom>
          <a:noFill/>
          <a:ln/>
        </p:spPr>
        <p:txBody>
          <a:bodyPr wrap="square" lIns="0" tIns="0" rIns="0" bIns="0" rtlCol="0" anchor="t"/>
          <a:lstStyle/>
          <a:p>
            <a:pPr indent="0" marL="0">
              <a:buNone/>
            </a:pPr>
            <a:r>
              <a:rPr lang="en-US" sz="1800" dirty="0">
                <a:solidFill>
                  <a:srgbClr val="A0B8C9"/>
                </a:solidFill>
                <a:latin typeface="Arial" pitchFamily="34" charset="0"/>
                <a:ea typeface="Arial" pitchFamily="34" charset="-122"/>
                <a:cs typeface="Arial" pitchFamily="34" charset="-120"/>
              </a:rPr>
              <a:t>Recorded processing outcome for the supplied historical archive.</a:t>
            </a:r>
            <a:endParaRPr lang="en-US" sz="1800" dirty="0"/>
          </a:p>
        </p:txBody>
      </p:sp>
      <p:sp>
        <p:nvSpPr>
          <p:cNvPr id="6" name="Shape 4"/>
          <p:cNvSpPr/>
          <p:nvPr/>
        </p:nvSpPr>
        <p:spPr>
          <a:xfrm>
            <a:off x="594360" y="7708392"/>
            <a:ext cx="13441680" cy="13716"/>
          </a:xfrm>
          <a:prstGeom prst="rect">
            <a:avLst/>
          </a:prstGeom>
          <a:solidFill>
            <a:srgbClr val="254354"/>
          </a:solidFill>
          <a:ln w="12700">
            <a:solidFill>
              <a:srgbClr val="254354">
                <a:alpha val="0"/>
              </a:srgbClr>
            </a:solidFill>
            <a:prstDash val="solid"/>
          </a:ln>
        </p:spPr>
      </p:sp>
      <p:sp>
        <p:nvSpPr>
          <p:cNvPr id="7" name="Text 5"/>
          <p:cNvSpPr/>
          <p:nvPr/>
        </p:nvSpPr>
        <p:spPr>
          <a:xfrm>
            <a:off x="594360" y="7845552"/>
            <a:ext cx="11887200" cy="228600"/>
          </a:xfrm>
          <a:prstGeom prst="rect">
            <a:avLst/>
          </a:prstGeom>
          <a:noFill/>
          <a:ln/>
        </p:spPr>
        <p:txBody>
          <a:bodyPr wrap="square" lIns="0" tIns="0" rIns="0" bIns="0" rtlCol="0" anchor="t"/>
          <a:lstStyle/>
          <a:p>
            <a:pPr indent="0" marL="0">
              <a:buNone/>
            </a:pPr>
            <a:r>
              <a:rPr lang="en-US" sz="900" dirty="0">
                <a:solidFill>
                  <a:srgbClr val="A0B8C9"/>
                </a:solidFill>
                <a:latin typeface="Arial" pitchFamily="34" charset="0"/>
                <a:ea typeface="Arial" pitchFamily="34" charset="-122"/>
                <a:cs typeface="Arial" pitchFamily="34" charset="-120"/>
              </a:rPr>
              <a:t>SEVERE CONVECTIVE RADAR INTELLIGENCE  /  ENGINEERING CASE STUDY</a:t>
            </a:r>
            <a:endParaRPr lang="en-US" sz="900" dirty="0"/>
          </a:p>
        </p:txBody>
      </p:sp>
      <p:sp>
        <p:nvSpPr>
          <p:cNvPr id="8" name="Text 6"/>
          <p:cNvSpPr/>
          <p:nvPr/>
        </p:nvSpPr>
        <p:spPr>
          <a:xfrm>
            <a:off x="13350240" y="7818120"/>
            <a:ext cx="731520" cy="274320"/>
          </a:xfrm>
          <a:prstGeom prst="rect">
            <a:avLst/>
          </a:prstGeom>
          <a:noFill/>
          <a:ln/>
        </p:spPr>
        <p:txBody>
          <a:bodyPr wrap="square" lIns="0" tIns="0" rIns="0" bIns="0" rtlCol="0" anchor="t"/>
          <a:lstStyle/>
          <a:p>
            <a:pPr indent="0" marL="0">
              <a:buNone/>
            </a:pPr>
            <a:r>
              <a:rPr lang="en-US" sz="1100" b="1" dirty="0">
                <a:solidFill>
                  <a:srgbClr val="52D9EE"/>
                </a:solidFill>
                <a:latin typeface="Arial" pitchFamily="34" charset="0"/>
                <a:ea typeface="Arial" pitchFamily="34" charset="-122"/>
                <a:cs typeface="Arial" pitchFamily="34" charset="-120"/>
              </a:rPr>
              <a:t>07 / 08</a:t>
            </a:r>
            <a:endParaRPr lang="en-US" sz="1100" dirty="0"/>
          </a:p>
        </p:txBody>
      </p:sp>
      <p:sp>
        <p:nvSpPr>
          <p:cNvPr id="9" name="Shape 7"/>
          <p:cNvSpPr/>
          <p:nvPr/>
        </p:nvSpPr>
        <p:spPr>
          <a:xfrm>
            <a:off x="594360" y="2697480"/>
            <a:ext cx="4315968" cy="1444752"/>
          </a:xfrm>
          <a:prstGeom prst="rect">
            <a:avLst/>
          </a:prstGeom>
          <a:solidFill>
            <a:srgbClr val="102536"/>
          </a:solidFill>
          <a:ln w="12700">
            <a:solidFill>
              <a:srgbClr val="102536">
                <a:alpha val="0"/>
              </a:srgbClr>
            </a:solidFill>
            <a:prstDash val="solid"/>
          </a:ln>
        </p:spPr>
      </p:sp>
      <p:sp>
        <p:nvSpPr>
          <p:cNvPr id="10" name="Text 8"/>
          <p:cNvSpPr/>
          <p:nvPr/>
        </p:nvSpPr>
        <p:spPr>
          <a:xfrm>
            <a:off x="822960" y="2834640"/>
            <a:ext cx="3840480" cy="658368"/>
          </a:xfrm>
          <a:prstGeom prst="rect">
            <a:avLst/>
          </a:prstGeom>
          <a:noFill/>
          <a:ln/>
        </p:spPr>
        <p:txBody>
          <a:bodyPr wrap="square" lIns="0" tIns="0" rIns="0" bIns="0" rtlCol="0" anchor="t"/>
          <a:lstStyle/>
          <a:p>
            <a:pPr indent="0" marL="0">
              <a:buNone/>
            </a:pPr>
            <a:r>
              <a:rPr lang="en-US" sz="4000" b="1" dirty="0">
                <a:solidFill>
                  <a:srgbClr val="52D9EE"/>
                </a:solidFill>
                <a:latin typeface="Arial" pitchFamily="34" charset="0"/>
                <a:ea typeface="Arial" pitchFamily="34" charset="-122"/>
                <a:cs typeface="Arial" pitchFamily="34" charset="-120"/>
              </a:rPr>
              <a:t>217</a:t>
            </a:r>
            <a:endParaRPr lang="en-US" sz="4000" dirty="0"/>
          </a:p>
        </p:txBody>
      </p:sp>
      <p:sp>
        <p:nvSpPr>
          <p:cNvPr id="11" name="Text 9"/>
          <p:cNvSpPr/>
          <p:nvPr/>
        </p:nvSpPr>
        <p:spPr>
          <a:xfrm>
            <a:off x="822960" y="3611880"/>
            <a:ext cx="3840480" cy="347472"/>
          </a:xfrm>
          <a:prstGeom prst="rect">
            <a:avLst/>
          </a:prstGeom>
          <a:noFill/>
          <a:ln/>
        </p:spPr>
        <p:txBody>
          <a:bodyPr wrap="square" lIns="0" tIns="0" rIns="0" bIns="0" rtlCol="0" anchor="t"/>
          <a:lstStyle/>
          <a:p>
            <a:pPr indent="0" marL="0">
              <a:buNone/>
            </a:pPr>
            <a:r>
              <a:rPr lang="en-US" sz="1700" dirty="0">
                <a:solidFill>
                  <a:srgbClr val="A0B8C9"/>
                </a:solidFill>
                <a:latin typeface="Arial" pitchFamily="34" charset="0"/>
                <a:ea typeface="Arial" pitchFamily="34" charset="-122"/>
                <a:cs typeface="Arial" pitchFamily="34" charset="-120"/>
              </a:rPr>
              <a:t>Processed timestamps</a:t>
            </a:r>
            <a:endParaRPr lang="en-US" sz="1700" dirty="0"/>
          </a:p>
        </p:txBody>
      </p:sp>
      <p:sp>
        <p:nvSpPr>
          <p:cNvPr id="12" name="Shape 10"/>
          <p:cNvSpPr/>
          <p:nvPr/>
        </p:nvSpPr>
        <p:spPr>
          <a:xfrm>
            <a:off x="5148072" y="2697480"/>
            <a:ext cx="4315968" cy="1444752"/>
          </a:xfrm>
          <a:prstGeom prst="rect">
            <a:avLst/>
          </a:prstGeom>
          <a:solidFill>
            <a:srgbClr val="102536"/>
          </a:solidFill>
          <a:ln w="12700">
            <a:solidFill>
              <a:srgbClr val="102536">
                <a:alpha val="0"/>
              </a:srgbClr>
            </a:solidFill>
            <a:prstDash val="solid"/>
          </a:ln>
        </p:spPr>
      </p:sp>
      <p:sp>
        <p:nvSpPr>
          <p:cNvPr id="13" name="Text 11"/>
          <p:cNvSpPr/>
          <p:nvPr/>
        </p:nvSpPr>
        <p:spPr>
          <a:xfrm>
            <a:off x="5376672" y="2834640"/>
            <a:ext cx="3840480" cy="658368"/>
          </a:xfrm>
          <a:prstGeom prst="rect">
            <a:avLst/>
          </a:prstGeom>
          <a:noFill/>
          <a:ln/>
        </p:spPr>
        <p:txBody>
          <a:bodyPr wrap="square" lIns="0" tIns="0" rIns="0" bIns="0" rtlCol="0" anchor="t"/>
          <a:lstStyle/>
          <a:p>
            <a:pPr indent="0" marL="0">
              <a:buNone/>
            </a:pPr>
            <a:r>
              <a:rPr lang="en-US" sz="4000" b="1" dirty="0">
                <a:solidFill>
                  <a:srgbClr val="52D9EE"/>
                </a:solidFill>
                <a:latin typeface="Arial" pitchFamily="34" charset="0"/>
                <a:ea typeface="Arial" pitchFamily="34" charset="-122"/>
                <a:cs typeface="Arial" pitchFamily="34" charset="-120"/>
              </a:rPr>
              <a:t>16</a:t>
            </a:r>
            <a:endParaRPr lang="en-US" sz="4000" dirty="0"/>
          </a:p>
        </p:txBody>
      </p:sp>
      <p:sp>
        <p:nvSpPr>
          <p:cNvPr id="14" name="Text 12"/>
          <p:cNvSpPr/>
          <p:nvPr/>
        </p:nvSpPr>
        <p:spPr>
          <a:xfrm>
            <a:off x="5376672" y="3611880"/>
            <a:ext cx="3840480" cy="347472"/>
          </a:xfrm>
          <a:prstGeom prst="rect">
            <a:avLst/>
          </a:prstGeom>
          <a:noFill/>
          <a:ln/>
        </p:spPr>
        <p:txBody>
          <a:bodyPr wrap="square" lIns="0" tIns="0" rIns="0" bIns="0" rtlCol="0" anchor="t"/>
          <a:lstStyle/>
          <a:p>
            <a:pPr indent="0" marL="0">
              <a:buNone/>
            </a:pPr>
            <a:r>
              <a:rPr lang="en-US" sz="1700" dirty="0">
                <a:solidFill>
                  <a:srgbClr val="A0B8C9"/>
                </a:solidFill>
                <a:latin typeface="Arial" pitchFamily="34" charset="0"/>
                <a:ea typeface="Arial" pitchFamily="34" charset="-122"/>
                <a:cs typeface="Arial" pitchFamily="34" charset="-120"/>
              </a:rPr>
              <a:t>Excluded timestamps</a:t>
            </a:r>
            <a:endParaRPr lang="en-US" sz="1700" dirty="0"/>
          </a:p>
        </p:txBody>
      </p:sp>
      <p:sp>
        <p:nvSpPr>
          <p:cNvPr id="15" name="Shape 13"/>
          <p:cNvSpPr/>
          <p:nvPr/>
        </p:nvSpPr>
        <p:spPr>
          <a:xfrm>
            <a:off x="9701784" y="2697480"/>
            <a:ext cx="4315968" cy="1444752"/>
          </a:xfrm>
          <a:prstGeom prst="rect">
            <a:avLst/>
          </a:prstGeom>
          <a:solidFill>
            <a:srgbClr val="102536"/>
          </a:solidFill>
          <a:ln w="12700">
            <a:solidFill>
              <a:srgbClr val="102536">
                <a:alpha val="0"/>
              </a:srgbClr>
            </a:solidFill>
            <a:prstDash val="solid"/>
          </a:ln>
        </p:spPr>
      </p:sp>
      <p:sp>
        <p:nvSpPr>
          <p:cNvPr id="16" name="Text 14"/>
          <p:cNvSpPr/>
          <p:nvPr/>
        </p:nvSpPr>
        <p:spPr>
          <a:xfrm>
            <a:off x="9930384" y="2834640"/>
            <a:ext cx="3840480" cy="658368"/>
          </a:xfrm>
          <a:prstGeom prst="rect">
            <a:avLst/>
          </a:prstGeom>
          <a:noFill/>
          <a:ln/>
        </p:spPr>
        <p:txBody>
          <a:bodyPr wrap="square" lIns="0" tIns="0" rIns="0" bIns="0" rtlCol="0" anchor="t"/>
          <a:lstStyle/>
          <a:p>
            <a:pPr indent="0" marL="0">
              <a:buNone/>
            </a:pPr>
            <a:r>
              <a:rPr lang="en-US" sz="4000" b="1" dirty="0">
                <a:solidFill>
                  <a:srgbClr val="52D9EE"/>
                </a:solidFill>
                <a:latin typeface="Arial" pitchFamily="34" charset="0"/>
                <a:ea typeface="Arial" pitchFamily="34" charset="-122"/>
                <a:cs typeface="Arial" pitchFamily="34" charset="-120"/>
              </a:rPr>
              <a:t>2,127</a:t>
            </a:r>
            <a:endParaRPr lang="en-US" sz="4000" dirty="0"/>
          </a:p>
        </p:txBody>
      </p:sp>
      <p:sp>
        <p:nvSpPr>
          <p:cNvPr id="17" name="Text 15"/>
          <p:cNvSpPr/>
          <p:nvPr/>
        </p:nvSpPr>
        <p:spPr>
          <a:xfrm>
            <a:off x="9930384" y="3611880"/>
            <a:ext cx="3840480" cy="347472"/>
          </a:xfrm>
          <a:prstGeom prst="rect">
            <a:avLst/>
          </a:prstGeom>
          <a:noFill/>
          <a:ln/>
        </p:spPr>
        <p:txBody>
          <a:bodyPr wrap="square" lIns="0" tIns="0" rIns="0" bIns="0" rtlCol="0" anchor="t"/>
          <a:lstStyle/>
          <a:p>
            <a:pPr indent="0" marL="0">
              <a:buNone/>
            </a:pPr>
            <a:r>
              <a:rPr lang="en-US" sz="1700" dirty="0">
                <a:solidFill>
                  <a:srgbClr val="A0B8C9"/>
                </a:solidFill>
                <a:latin typeface="Arial" pitchFamily="34" charset="0"/>
                <a:ea typeface="Arial" pitchFamily="34" charset="-122"/>
                <a:cs typeface="Arial" pitchFamily="34" charset="-120"/>
              </a:rPr>
              <a:t>Tracked-cell observations</a:t>
            </a:r>
            <a:endParaRPr lang="en-US" sz="1700" dirty="0"/>
          </a:p>
        </p:txBody>
      </p:sp>
      <p:pic>
        <p:nvPicPr>
          <p:cNvPr id="18" name="Image 0" descr="C:\Users\ronis\Documents\LinkCast\docs\assets\Platform.png">    </p:cNvPr>
          <p:cNvPicPr>
            <a:picLocks noChangeAspect="1"/>
          </p:cNvPicPr>
          <p:nvPr/>
        </p:nvPicPr>
        <p:blipFill>
          <a:blip r:embed="rId1"/>
          <a:stretch>
            <a:fillRect/>
          </a:stretch>
        </p:blipFill>
        <p:spPr>
          <a:xfrm>
            <a:off x="1267912" y="4498848"/>
            <a:ext cx="5419456" cy="2706624"/>
          </a:xfrm>
          <a:prstGeom prst="rect">
            <a:avLst/>
          </a:prstGeom>
        </p:spPr>
      </p:pic>
      <p:sp>
        <p:nvSpPr>
          <p:cNvPr id="19" name="Text 16"/>
          <p:cNvSpPr/>
          <p:nvPr/>
        </p:nvSpPr>
        <p:spPr>
          <a:xfrm>
            <a:off x="7772400" y="4572000"/>
            <a:ext cx="5943600" cy="548640"/>
          </a:xfrm>
          <a:prstGeom prst="rect">
            <a:avLst/>
          </a:prstGeom>
          <a:noFill/>
          <a:ln/>
        </p:spPr>
        <p:txBody>
          <a:bodyPr wrap="square" lIns="0" tIns="0" rIns="0" bIns="0" rtlCol="0" anchor="t"/>
          <a:lstStyle/>
          <a:p>
            <a:pPr indent="0" marL="0">
              <a:buNone/>
            </a:pPr>
            <a:r>
              <a:rPr lang="en-US" sz="2500" b="1" dirty="0">
                <a:solidFill>
                  <a:srgbClr val="F1F6FA"/>
                </a:solidFill>
                <a:latin typeface="Arial" pitchFamily="34" charset="0"/>
                <a:ea typeface="Arial" pitchFamily="34" charset="-122"/>
                <a:cs typeface="Arial" pitchFamily="34" charset="-120"/>
              </a:rPr>
              <a:t>What the numbers mean</a:t>
            </a:r>
            <a:endParaRPr lang="en-US" sz="2500" dirty="0"/>
          </a:p>
        </p:txBody>
      </p:sp>
      <p:sp>
        <p:nvSpPr>
          <p:cNvPr id="20" name="Text 17"/>
          <p:cNvSpPr/>
          <p:nvPr/>
        </p:nvSpPr>
        <p:spPr>
          <a:xfrm>
            <a:off x="7772400" y="5349240"/>
            <a:ext cx="5897880" cy="1463040"/>
          </a:xfrm>
          <a:prstGeom prst="rect">
            <a:avLst/>
          </a:prstGeom>
          <a:noFill/>
          <a:ln/>
        </p:spPr>
        <p:txBody>
          <a:bodyPr wrap="square" lIns="0" tIns="0" rIns="0" bIns="0" rtlCol="0" anchor="t"/>
          <a:lstStyle/>
          <a:p>
            <a:pPr indent="0" marL="0">
              <a:buNone/>
            </a:pPr>
            <a:r>
              <a:rPr lang="en-US" sz="2100" dirty="0">
                <a:solidFill>
                  <a:srgbClr val="A0B8C9"/>
                </a:solidFill>
                <a:latin typeface="Arial" pitchFamily="34" charset="0"/>
                <a:ea typeface="Arial" pitchFamily="34" charset="-122"/>
                <a:cs typeface="Arial" pitchFamily="34" charset="-120"/>
              </a:rPr>
              <a:t>Processing coverage, not detection accuracy.</a:t>
            </a:r>
            <a:endParaRPr lang="en-US" sz="2100" dirty="0"/>
          </a:p>
          <a:p>
            <a:pPr indent="0" marL="0">
              <a:buNone/>
            </a:pPr>
            <a:r>
              <a:rPr lang="en-US" sz="2100" dirty="0">
                <a:solidFill>
                  <a:srgbClr val="A0B8C9"/>
                </a:solidFill>
                <a:latin typeface="Arial" pitchFamily="34" charset="0"/>
                <a:ea typeface="Arial" pitchFamily="34" charset="-122"/>
                <a:cs typeface="Arial" pitchFamily="34" charset="-120"/>
              </a:rPr>
              <a:t>Track points are cell observations,</a:t>
            </a:r>
            <a:endParaRPr lang="en-US" sz="2100" dirty="0"/>
          </a:p>
          <a:p>
            <a:pPr indent="0" marL="0">
              <a:buNone/>
            </a:pPr>
            <a:r>
              <a:rPr lang="en-US" sz="2100" dirty="0">
                <a:solidFill>
                  <a:srgbClr val="A0B8C9"/>
                </a:solidFill>
                <a:latin typeface="Arial" pitchFamily="34" charset="0"/>
                <a:ea typeface="Arial" pitchFamily="34" charset="-122"/>
                <a:cs typeface="Arial" pitchFamily="34" charset="-120"/>
              </a:rPr>
              <a:t>not distinct storms or verified impacts.</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31F"/>
        </a:solidFill>
      </p:bgPr>
    </p:bg>
    <p:spTree>
      <p:nvGrpSpPr>
        <p:cNvPr id="1" name=""/>
        <p:cNvGrpSpPr/>
        <p:nvPr/>
      </p:nvGrpSpPr>
      <p:grpSpPr>
        <a:xfrm>
          <a:off x="0" y="0"/>
          <a:ext cx="0" cy="0"/>
          <a:chOff x="0" y="0"/>
          <a:chExt cx="0" cy="0"/>
        </a:xfrm>
      </p:grpSpPr>
      <p:sp>
        <p:nvSpPr>
          <p:cNvPr id="2" name="Shape 0"/>
          <p:cNvSpPr/>
          <p:nvPr/>
        </p:nvSpPr>
        <p:spPr>
          <a:xfrm>
            <a:off x="594360" y="502920"/>
            <a:ext cx="384048" cy="50292"/>
          </a:xfrm>
          <a:prstGeom prst="rect">
            <a:avLst/>
          </a:prstGeom>
          <a:solidFill>
            <a:srgbClr val="52D9EE"/>
          </a:solidFill>
          <a:ln w="12700">
            <a:solidFill>
              <a:srgbClr val="52D9EE">
                <a:alpha val="0"/>
              </a:srgbClr>
            </a:solidFill>
            <a:prstDash val="solid"/>
          </a:ln>
        </p:spPr>
      </p:sp>
      <p:sp>
        <p:nvSpPr>
          <p:cNvPr id="3" name="Text 1"/>
          <p:cNvSpPr/>
          <p:nvPr/>
        </p:nvSpPr>
        <p:spPr>
          <a:xfrm>
            <a:off x="1115568" y="393192"/>
            <a:ext cx="11887200" cy="320040"/>
          </a:xfrm>
          <a:prstGeom prst="rect">
            <a:avLst/>
          </a:prstGeom>
          <a:noFill/>
          <a:ln/>
        </p:spPr>
        <p:txBody>
          <a:bodyPr wrap="square" lIns="0" tIns="0" rIns="0" bIns="0" rtlCol="0" anchor="t"/>
          <a:lstStyle/>
          <a:p>
            <a:pPr indent="0" marL="0">
              <a:buNone/>
            </a:pPr>
            <a:r>
              <a:rPr lang="en-US" sz="1200" b="1" dirty="0">
                <a:solidFill>
                  <a:srgbClr val="52D9EE"/>
                </a:solidFill>
                <a:latin typeface="Arial" pitchFamily="34" charset="0"/>
                <a:ea typeface="Arial" pitchFamily="34" charset="-122"/>
                <a:cs typeface="Arial" pitchFamily="34" charset="-120"/>
              </a:rPr>
              <a:t>08 / LESSONS AND NEXT STEPS</a:t>
            </a:r>
            <a:endParaRPr lang="en-US" sz="1200" dirty="0"/>
          </a:p>
        </p:txBody>
      </p:sp>
      <p:sp>
        <p:nvSpPr>
          <p:cNvPr id="4" name="Text 2"/>
          <p:cNvSpPr/>
          <p:nvPr/>
        </p:nvSpPr>
        <p:spPr>
          <a:xfrm>
            <a:off x="594360" y="960120"/>
            <a:ext cx="13441680" cy="1005840"/>
          </a:xfrm>
          <a:prstGeom prst="rect">
            <a:avLst/>
          </a:prstGeom>
          <a:noFill/>
          <a:ln/>
        </p:spPr>
        <p:txBody>
          <a:bodyPr wrap="square" lIns="0" tIns="0" rIns="0" bIns="0" rtlCol="0" anchor="t"/>
          <a:lstStyle/>
          <a:p>
            <a:pPr indent="0" marL="0">
              <a:buNone/>
            </a:pPr>
            <a:r>
              <a:rPr lang="en-US" sz="3400" b="1" dirty="0">
                <a:solidFill>
                  <a:srgbClr val="F1F6FA"/>
                </a:solidFill>
                <a:latin typeface="Arial" pitchFamily="34" charset="0"/>
                <a:ea typeface="Arial" pitchFamily="34" charset="-122"/>
                <a:cs typeface="Arial" pitchFamily="34" charset="-120"/>
              </a:rPr>
              <a:t>Data quality makes the result explainable.</a:t>
            </a:r>
            <a:endParaRPr lang="en-US" sz="3400" dirty="0"/>
          </a:p>
        </p:txBody>
      </p:sp>
      <p:sp>
        <p:nvSpPr>
          <p:cNvPr id="5" name="Text 3"/>
          <p:cNvSpPr/>
          <p:nvPr/>
        </p:nvSpPr>
        <p:spPr>
          <a:xfrm>
            <a:off x="594360" y="1847088"/>
            <a:ext cx="13441680" cy="640080"/>
          </a:xfrm>
          <a:prstGeom prst="rect">
            <a:avLst/>
          </a:prstGeom>
          <a:noFill/>
          <a:ln/>
        </p:spPr>
        <p:txBody>
          <a:bodyPr wrap="square" lIns="0" tIns="0" rIns="0" bIns="0" rtlCol="0" anchor="t"/>
          <a:lstStyle/>
          <a:p>
            <a:pPr indent="0" marL="0">
              <a:buNone/>
            </a:pPr>
            <a:r>
              <a:rPr lang="en-US" sz="1800" dirty="0">
                <a:solidFill>
                  <a:srgbClr val="A0B8C9"/>
                </a:solidFill>
                <a:latin typeface="Arial" pitchFamily="34" charset="0"/>
                <a:ea typeface="Arial" pitchFamily="34" charset="-122"/>
                <a:cs typeface="Arial" pitchFamily="34" charset="-120"/>
              </a:rPr>
              <a:t>The strongest outcome is a traceable path from source observation to visual evidence.</a:t>
            </a:r>
            <a:endParaRPr lang="en-US" sz="1800" dirty="0"/>
          </a:p>
        </p:txBody>
      </p:sp>
      <p:sp>
        <p:nvSpPr>
          <p:cNvPr id="6" name="Shape 4"/>
          <p:cNvSpPr/>
          <p:nvPr/>
        </p:nvSpPr>
        <p:spPr>
          <a:xfrm>
            <a:off x="594360" y="7708392"/>
            <a:ext cx="13441680" cy="13716"/>
          </a:xfrm>
          <a:prstGeom prst="rect">
            <a:avLst/>
          </a:prstGeom>
          <a:solidFill>
            <a:srgbClr val="254354"/>
          </a:solidFill>
          <a:ln w="12700">
            <a:solidFill>
              <a:srgbClr val="254354">
                <a:alpha val="0"/>
              </a:srgbClr>
            </a:solidFill>
            <a:prstDash val="solid"/>
          </a:ln>
        </p:spPr>
      </p:sp>
      <p:sp>
        <p:nvSpPr>
          <p:cNvPr id="7" name="Text 5"/>
          <p:cNvSpPr/>
          <p:nvPr/>
        </p:nvSpPr>
        <p:spPr>
          <a:xfrm>
            <a:off x="594360" y="7845552"/>
            <a:ext cx="11887200" cy="228600"/>
          </a:xfrm>
          <a:prstGeom prst="rect">
            <a:avLst/>
          </a:prstGeom>
          <a:noFill/>
          <a:ln/>
        </p:spPr>
        <p:txBody>
          <a:bodyPr wrap="square" lIns="0" tIns="0" rIns="0" bIns="0" rtlCol="0" anchor="t"/>
          <a:lstStyle/>
          <a:p>
            <a:pPr indent="0" marL="0">
              <a:buNone/>
            </a:pPr>
            <a:r>
              <a:rPr lang="en-US" sz="900" dirty="0">
                <a:solidFill>
                  <a:srgbClr val="A0B8C9"/>
                </a:solidFill>
                <a:latin typeface="Arial" pitchFamily="34" charset="0"/>
                <a:ea typeface="Arial" pitchFamily="34" charset="-122"/>
                <a:cs typeface="Arial" pitchFamily="34" charset="-120"/>
              </a:rPr>
              <a:t>SEVERE CONVECTIVE RADAR INTELLIGENCE  /  ENGINEERING CASE STUDY</a:t>
            </a:r>
            <a:endParaRPr lang="en-US" sz="900" dirty="0"/>
          </a:p>
        </p:txBody>
      </p:sp>
      <p:sp>
        <p:nvSpPr>
          <p:cNvPr id="8" name="Text 6"/>
          <p:cNvSpPr/>
          <p:nvPr/>
        </p:nvSpPr>
        <p:spPr>
          <a:xfrm>
            <a:off x="13350240" y="7818120"/>
            <a:ext cx="731520" cy="274320"/>
          </a:xfrm>
          <a:prstGeom prst="rect">
            <a:avLst/>
          </a:prstGeom>
          <a:noFill/>
          <a:ln/>
        </p:spPr>
        <p:txBody>
          <a:bodyPr wrap="square" lIns="0" tIns="0" rIns="0" bIns="0" rtlCol="0" anchor="t"/>
          <a:lstStyle/>
          <a:p>
            <a:pPr indent="0" marL="0">
              <a:buNone/>
            </a:pPr>
            <a:r>
              <a:rPr lang="en-US" sz="1100" b="1" dirty="0">
                <a:solidFill>
                  <a:srgbClr val="52D9EE"/>
                </a:solidFill>
                <a:latin typeface="Arial" pitchFamily="34" charset="0"/>
                <a:ea typeface="Arial" pitchFamily="34" charset="-122"/>
                <a:cs typeface="Arial" pitchFamily="34" charset="-120"/>
              </a:rPr>
              <a:t>08 / 08</a:t>
            </a:r>
            <a:endParaRPr lang="en-US" sz="1100" dirty="0"/>
          </a:p>
        </p:txBody>
      </p:sp>
      <p:sp>
        <p:nvSpPr>
          <p:cNvPr id="9" name="Shape 7"/>
          <p:cNvSpPr/>
          <p:nvPr/>
        </p:nvSpPr>
        <p:spPr>
          <a:xfrm>
            <a:off x="594360" y="2743200"/>
            <a:ext cx="6492240" cy="3291840"/>
          </a:xfrm>
          <a:prstGeom prst="rect">
            <a:avLst/>
          </a:prstGeom>
          <a:solidFill>
            <a:srgbClr val="102536"/>
          </a:solidFill>
          <a:ln w="12700">
            <a:solidFill>
              <a:srgbClr val="102536">
                <a:alpha val="0"/>
              </a:srgbClr>
            </a:solidFill>
            <a:prstDash val="solid"/>
          </a:ln>
        </p:spPr>
      </p:sp>
      <p:sp>
        <p:nvSpPr>
          <p:cNvPr id="10" name="Shape 8"/>
          <p:cNvSpPr/>
          <p:nvPr/>
        </p:nvSpPr>
        <p:spPr>
          <a:xfrm>
            <a:off x="594360" y="2743200"/>
            <a:ext cx="41148" cy="3291840"/>
          </a:xfrm>
          <a:prstGeom prst="rect">
            <a:avLst/>
          </a:prstGeom>
          <a:solidFill>
            <a:srgbClr val="52D9EE"/>
          </a:solidFill>
          <a:ln w="12700">
            <a:solidFill>
              <a:srgbClr val="52D9EE">
                <a:alpha val="0"/>
              </a:srgbClr>
            </a:solidFill>
            <a:prstDash val="solid"/>
          </a:ln>
        </p:spPr>
      </p:sp>
      <p:sp>
        <p:nvSpPr>
          <p:cNvPr id="11" name="Text 9"/>
          <p:cNvSpPr/>
          <p:nvPr/>
        </p:nvSpPr>
        <p:spPr>
          <a:xfrm>
            <a:off x="822960" y="2962656"/>
            <a:ext cx="6035040" cy="594360"/>
          </a:xfrm>
          <a:prstGeom prst="rect">
            <a:avLst/>
          </a:prstGeom>
          <a:noFill/>
          <a:ln/>
        </p:spPr>
        <p:txBody>
          <a:bodyPr wrap="square" lIns="0" tIns="0" rIns="0" bIns="0" rtlCol="0" anchor="t"/>
          <a:lstStyle/>
          <a:p>
            <a:pPr indent="0" marL="0">
              <a:buNone/>
            </a:pPr>
            <a:r>
              <a:rPr lang="en-US" sz="2300" b="1" dirty="0">
                <a:solidFill>
                  <a:srgbClr val="52D9EE"/>
                </a:solidFill>
                <a:latin typeface="Arial" pitchFamily="34" charset="0"/>
                <a:ea typeface="Arial" pitchFamily="34" charset="-122"/>
                <a:cs typeface="Arial" pitchFamily="34" charset="-120"/>
              </a:rPr>
              <a:t>WHAT I LEARNED</a:t>
            </a:r>
            <a:endParaRPr lang="en-US" sz="2300" dirty="0"/>
          </a:p>
        </p:txBody>
      </p:sp>
      <p:sp>
        <p:nvSpPr>
          <p:cNvPr id="12" name="Text 10"/>
          <p:cNvSpPr/>
          <p:nvPr/>
        </p:nvSpPr>
        <p:spPr>
          <a:xfrm>
            <a:off x="822960" y="3675888"/>
            <a:ext cx="6035040" cy="2240280"/>
          </a:xfrm>
          <a:prstGeom prst="rect">
            <a:avLst/>
          </a:prstGeom>
          <a:noFill/>
          <a:ln/>
        </p:spPr>
        <p:txBody>
          <a:bodyPr wrap="square" lIns="0" tIns="0" rIns="0" bIns="0" rtlCol="0" anchor="t"/>
          <a:lstStyle/>
          <a:p>
            <a:pPr indent="0" marL="0">
              <a:buNone/>
            </a:pPr>
            <a:r>
              <a:rPr lang="en-US" sz="1900" dirty="0">
                <a:solidFill>
                  <a:srgbClr val="F1F6FA"/>
                </a:solidFill>
                <a:latin typeface="Arial" pitchFamily="34" charset="0"/>
                <a:ea typeface="Arial" pitchFamily="34" charset="-122"/>
                <a:cs typeface="Arial" pitchFamily="34" charset="-120"/>
              </a:rPr>
              <a:t>Metadata are part of the measurement.</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Raw files must remain recoverable.</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Missing coverage must stay visible.</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Every visual needs a traceable source.</a:t>
            </a:r>
            <a:endParaRPr lang="en-US" sz="1900" dirty="0"/>
          </a:p>
        </p:txBody>
      </p:sp>
      <p:sp>
        <p:nvSpPr>
          <p:cNvPr id="13" name="Shape 11"/>
          <p:cNvSpPr/>
          <p:nvPr/>
        </p:nvSpPr>
        <p:spPr>
          <a:xfrm>
            <a:off x="7333488" y="2743200"/>
            <a:ext cx="6684264" cy="3291840"/>
          </a:xfrm>
          <a:prstGeom prst="rect">
            <a:avLst/>
          </a:prstGeom>
          <a:solidFill>
            <a:srgbClr val="102536"/>
          </a:solidFill>
          <a:ln w="12700">
            <a:solidFill>
              <a:srgbClr val="102536">
                <a:alpha val="0"/>
              </a:srgbClr>
            </a:solidFill>
            <a:prstDash val="solid"/>
          </a:ln>
        </p:spPr>
      </p:sp>
      <p:sp>
        <p:nvSpPr>
          <p:cNvPr id="14" name="Shape 12"/>
          <p:cNvSpPr/>
          <p:nvPr/>
        </p:nvSpPr>
        <p:spPr>
          <a:xfrm>
            <a:off x="7333488" y="2743200"/>
            <a:ext cx="41148" cy="3291840"/>
          </a:xfrm>
          <a:prstGeom prst="rect">
            <a:avLst/>
          </a:prstGeom>
          <a:solidFill>
            <a:srgbClr val="52D9EE"/>
          </a:solidFill>
          <a:ln w="12700">
            <a:solidFill>
              <a:srgbClr val="52D9EE">
                <a:alpha val="0"/>
              </a:srgbClr>
            </a:solidFill>
            <a:prstDash val="solid"/>
          </a:ln>
        </p:spPr>
      </p:sp>
      <p:sp>
        <p:nvSpPr>
          <p:cNvPr id="15" name="Text 13"/>
          <p:cNvSpPr/>
          <p:nvPr/>
        </p:nvSpPr>
        <p:spPr>
          <a:xfrm>
            <a:off x="7562088" y="2962656"/>
            <a:ext cx="6227064" cy="594360"/>
          </a:xfrm>
          <a:prstGeom prst="rect">
            <a:avLst/>
          </a:prstGeom>
          <a:noFill/>
          <a:ln/>
        </p:spPr>
        <p:txBody>
          <a:bodyPr wrap="square" lIns="0" tIns="0" rIns="0" bIns="0" rtlCol="0" anchor="t"/>
          <a:lstStyle/>
          <a:p>
            <a:pPr indent="0" marL="0">
              <a:buNone/>
            </a:pPr>
            <a:r>
              <a:rPr lang="en-US" sz="2300" b="1" dirty="0">
                <a:solidFill>
                  <a:srgbClr val="52D9EE"/>
                </a:solidFill>
                <a:latin typeface="Arial" pitchFamily="34" charset="0"/>
                <a:ea typeface="Arial" pitchFamily="34" charset="-122"/>
                <a:cs typeface="Arial" pitchFamily="34" charset="-120"/>
              </a:rPr>
              <a:t>WHAT COMES NEXT</a:t>
            </a:r>
            <a:endParaRPr lang="en-US" sz="2300" dirty="0"/>
          </a:p>
        </p:txBody>
      </p:sp>
      <p:sp>
        <p:nvSpPr>
          <p:cNvPr id="16" name="Text 14"/>
          <p:cNvSpPr/>
          <p:nvPr/>
        </p:nvSpPr>
        <p:spPr>
          <a:xfrm>
            <a:off x="7562088" y="3675888"/>
            <a:ext cx="6227064" cy="2240280"/>
          </a:xfrm>
          <a:prstGeom prst="rect">
            <a:avLst/>
          </a:prstGeom>
          <a:noFill/>
          <a:ln/>
        </p:spPr>
        <p:txBody>
          <a:bodyPr wrap="square" lIns="0" tIns="0" rIns="0" bIns="0" rtlCol="0" anchor="t"/>
          <a:lstStyle/>
          <a:p>
            <a:pPr indent="0" marL="0">
              <a:buNone/>
            </a:pPr>
            <a:r>
              <a:rPr lang="en-US" sz="1900" dirty="0">
                <a:solidFill>
                  <a:srgbClr val="F1F6FA"/>
                </a:solidFill>
                <a:latin typeface="Arial" pitchFamily="34" charset="0"/>
                <a:ea typeface="Arial" pitchFamily="34" charset="-122"/>
                <a:cs typeface="Arial" pitchFamily="34" charset="-120"/>
              </a:rPr>
              <a:t>Validate projection and cell matching.</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Evaluate velocity and rotation safely.</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Compare against independent events.</a:t>
            </a:r>
            <a:endParaRPr lang="en-US" sz="1900" dirty="0"/>
          </a:p>
          <a:p>
            <a:pPr indent="0" marL="0">
              <a:buNone/>
            </a:pPr>
            <a:r>
              <a:rPr lang="en-US" sz="1900" dirty="0">
                <a:solidFill>
                  <a:srgbClr val="F1F6FA"/>
                </a:solidFill>
                <a:latin typeface="Arial" pitchFamily="34" charset="0"/>
                <a:ea typeface="Arial" pitchFamily="34" charset="-122"/>
                <a:cs typeface="Arial" pitchFamily="34" charset="-120"/>
              </a:rPr>
              <a:t>Measure quality and performance.</a:t>
            </a:r>
            <a:endParaRPr lang="en-US" sz="1900" dirty="0"/>
          </a:p>
        </p:txBody>
      </p:sp>
      <p:sp>
        <p:nvSpPr>
          <p:cNvPr id="17" name="Text 15"/>
          <p:cNvSpPr/>
          <p:nvPr/>
        </p:nvSpPr>
        <p:spPr>
          <a:xfrm>
            <a:off x="594360" y="6510528"/>
            <a:ext cx="12801600" cy="411480"/>
          </a:xfrm>
          <a:prstGeom prst="rect">
            <a:avLst/>
          </a:prstGeom>
          <a:noFill/>
          <a:ln/>
        </p:spPr>
        <p:txBody>
          <a:bodyPr wrap="square" lIns="0" tIns="0" rIns="0" bIns="0" rtlCol="0" anchor="t"/>
          <a:lstStyle/>
          <a:p>
            <a:pPr indent="0" marL="0">
              <a:buNone/>
            </a:pPr>
            <a:r>
              <a:rPr lang="en-US" sz="2100" b="1" dirty="0">
                <a:solidFill>
                  <a:srgbClr val="52D9EE"/>
                </a:solidFill>
                <a:latin typeface="Arial" pitchFamily="34" charset="0"/>
                <a:ea typeface="Arial" pitchFamily="34" charset="-122"/>
                <a:cs typeface="Arial" pitchFamily="34" charset="-120"/>
              </a:rPr>
              <a:t>Explore the code and architecture</a:t>
            </a:r>
            <a:endParaRPr lang="en-US" sz="2100" dirty="0"/>
          </a:p>
        </p:txBody>
      </p:sp>
      <p:sp>
        <p:nvSpPr>
          <p:cNvPr id="18" name="Text 16">
            <a:hlinkClick r:id="rId1" tooltip=""/>
          </p:cNvPr>
          <p:cNvSpPr/>
          <p:nvPr/>
        </p:nvSpPr>
        <p:spPr>
          <a:xfrm>
            <a:off x="594360" y="6995160"/>
            <a:ext cx="12801600" cy="411480"/>
          </a:xfrm>
          <a:prstGeom prst="rect">
            <a:avLst/>
          </a:prstGeom>
          <a:noFill/>
          <a:ln/>
        </p:spPr>
        <p:txBody>
          <a:bodyPr wrap="square" lIns="0" tIns="0" rIns="0" bIns="0" rtlCol="0" anchor="t"/>
          <a:lstStyle/>
          <a:p>
            <a:pPr indent="0" marL="0">
              <a:buNone/>
            </a:pPr>
            <a:r>
              <a:rPr lang="en-US" sz="1700" u="sng" dirty="0">
                <a:solidFill>
                  <a:srgbClr val="A0B8C9"/>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https://github.com/mfretta/severe-convective-radar-intelligence</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Convective Radar Intelligence</dc:title>
  <dc:subject>Radar data engineering, quality and cell tracking</dc:subject>
  <dc:creator>Murilo Fretta</dc:creator>
  <cp:lastModifiedBy>Murilo Fretta</cp:lastModifiedBy>
  <cp:revision>1</cp:revision>
  <dcterms:created xsi:type="dcterms:W3CDTF">2026-09-17T09:26:23Z</dcterms:created>
  <dcterms:modified xsi:type="dcterms:W3CDTF">2026-09-17T09:26:23Z</dcterms:modified>
</cp:coreProperties>
</file>